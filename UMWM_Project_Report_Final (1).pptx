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21A3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21A3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21A3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221A3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21A3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21A3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812787"/>
            <a:ext cx="891349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21A3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016" y="2946280"/>
            <a:ext cx="5617210" cy="142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21A3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183524" y="273964"/>
            <a:ext cx="3383279" cy="2331720"/>
            <a:chOff x="8183524" y="273964"/>
            <a:chExt cx="3383279" cy="2331720"/>
          </a:xfrm>
        </p:grpSpPr>
        <p:sp>
          <p:nvSpPr>
            <p:cNvPr id="4" name="object 4"/>
            <p:cNvSpPr/>
            <p:nvPr/>
          </p:nvSpPr>
          <p:spPr>
            <a:xfrm>
              <a:off x="9006484" y="502564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0"/>
                  </a:moveTo>
                  <a:lnTo>
                    <a:pt x="866332" y="1259"/>
                  </a:lnTo>
                  <a:lnTo>
                    <a:pt x="818533" y="5021"/>
                  </a:lnTo>
                  <a:lnTo>
                    <a:pt x="771096" y="11263"/>
                  </a:lnTo>
                  <a:lnTo>
                    <a:pt x="724118" y="19961"/>
                  </a:lnTo>
                  <a:lnTo>
                    <a:pt x="677694" y="31091"/>
                  </a:lnTo>
                  <a:lnTo>
                    <a:pt x="631918" y="44629"/>
                  </a:lnTo>
                  <a:lnTo>
                    <a:pt x="586885" y="60551"/>
                  </a:lnTo>
                  <a:lnTo>
                    <a:pt x="542691" y="78835"/>
                  </a:lnTo>
                  <a:lnTo>
                    <a:pt x="499431" y="99455"/>
                  </a:lnTo>
                  <a:lnTo>
                    <a:pt x="457200" y="122389"/>
                  </a:lnTo>
                  <a:lnTo>
                    <a:pt x="416225" y="147522"/>
                  </a:lnTo>
                  <a:lnTo>
                    <a:pt x="376725" y="174700"/>
                  </a:lnTo>
                  <a:lnTo>
                    <a:pt x="338772" y="203852"/>
                  </a:lnTo>
                  <a:lnTo>
                    <a:pt x="302438" y="234906"/>
                  </a:lnTo>
                  <a:lnTo>
                    <a:pt x="267792" y="267792"/>
                  </a:lnTo>
                  <a:lnTo>
                    <a:pt x="234906" y="302438"/>
                  </a:lnTo>
                  <a:lnTo>
                    <a:pt x="203852" y="338772"/>
                  </a:lnTo>
                  <a:lnTo>
                    <a:pt x="174700" y="376725"/>
                  </a:lnTo>
                  <a:lnTo>
                    <a:pt x="147522" y="416225"/>
                  </a:lnTo>
                  <a:lnTo>
                    <a:pt x="122389" y="457200"/>
                  </a:lnTo>
                  <a:lnTo>
                    <a:pt x="99455" y="499431"/>
                  </a:lnTo>
                  <a:lnTo>
                    <a:pt x="78835" y="542691"/>
                  </a:lnTo>
                  <a:lnTo>
                    <a:pt x="60551" y="586885"/>
                  </a:lnTo>
                  <a:lnTo>
                    <a:pt x="44629" y="631918"/>
                  </a:lnTo>
                  <a:lnTo>
                    <a:pt x="31091" y="677694"/>
                  </a:lnTo>
                  <a:lnTo>
                    <a:pt x="19961" y="724118"/>
                  </a:lnTo>
                  <a:lnTo>
                    <a:pt x="11263" y="771096"/>
                  </a:lnTo>
                  <a:lnTo>
                    <a:pt x="5021" y="818533"/>
                  </a:lnTo>
                  <a:lnTo>
                    <a:pt x="1259" y="866332"/>
                  </a:lnTo>
                  <a:lnTo>
                    <a:pt x="0" y="914400"/>
                  </a:lnTo>
                  <a:lnTo>
                    <a:pt x="1259" y="962464"/>
                  </a:lnTo>
                  <a:lnTo>
                    <a:pt x="5021" y="1010260"/>
                  </a:lnTo>
                  <a:lnTo>
                    <a:pt x="11263" y="1057695"/>
                  </a:lnTo>
                  <a:lnTo>
                    <a:pt x="19961" y="1104672"/>
                  </a:lnTo>
                  <a:lnTo>
                    <a:pt x="31091" y="1151096"/>
                  </a:lnTo>
                  <a:lnTo>
                    <a:pt x="44629" y="1196872"/>
                  </a:lnTo>
                  <a:lnTo>
                    <a:pt x="60551" y="1241906"/>
                  </a:lnTo>
                  <a:lnTo>
                    <a:pt x="78835" y="1286102"/>
                  </a:lnTo>
                  <a:lnTo>
                    <a:pt x="99455" y="1329365"/>
                  </a:lnTo>
                  <a:lnTo>
                    <a:pt x="122389" y="1371600"/>
                  </a:lnTo>
                  <a:lnTo>
                    <a:pt x="147522" y="1412571"/>
                  </a:lnTo>
                  <a:lnTo>
                    <a:pt x="174700" y="1452069"/>
                  </a:lnTo>
                  <a:lnTo>
                    <a:pt x="203852" y="1490021"/>
                  </a:lnTo>
                  <a:lnTo>
                    <a:pt x="234906" y="1526355"/>
                  </a:lnTo>
                  <a:lnTo>
                    <a:pt x="267792" y="1561001"/>
                  </a:lnTo>
                  <a:lnTo>
                    <a:pt x="302438" y="1593886"/>
                  </a:lnTo>
                  <a:lnTo>
                    <a:pt x="338772" y="1624940"/>
                  </a:lnTo>
                  <a:lnTo>
                    <a:pt x="376725" y="1654091"/>
                  </a:lnTo>
                  <a:lnTo>
                    <a:pt x="416225" y="1681267"/>
                  </a:lnTo>
                  <a:lnTo>
                    <a:pt x="457200" y="1706397"/>
                  </a:lnTo>
                  <a:lnTo>
                    <a:pt x="499431" y="1729331"/>
                  </a:lnTo>
                  <a:lnTo>
                    <a:pt x="542691" y="1749953"/>
                  </a:lnTo>
                  <a:lnTo>
                    <a:pt x="586885" y="1768238"/>
                  </a:lnTo>
                  <a:lnTo>
                    <a:pt x="631918" y="1784162"/>
                  </a:lnTo>
                  <a:lnTo>
                    <a:pt x="677694" y="1797702"/>
                  </a:lnTo>
                  <a:lnTo>
                    <a:pt x="724118" y="1808833"/>
                  </a:lnTo>
                  <a:lnTo>
                    <a:pt x="771096" y="1817533"/>
                  </a:lnTo>
                  <a:lnTo>
                    <a:pt x="818533" y="1823776"/>
                  </a:lnTo>
                  <a:lnTo>
                    <a:pt x="866332" y="1827540"/>
                  </a:lnTo>
                  <a:lnTo>
                    <a:pt x="914400" y="1828800"/>
                  </a:lnTo>
                  <a:lnTo>
                    <a:pt x="962464" y="1827540"/>
                  </a:lnTo>
                  <a:lnTo>
                    <a:pt x="1010260" y="1823776"/>
                  </a:lnTo>
                  <a:lnTo>
                    <a:pt x="1057695" y="1817533"/>
                  </a:lnTo>
                  <a:lnTo>
                    <a:pt x="1104672" y="1808833"/>
                  </a:lnTo>
                  <a:lnTo>
                    <a:pt x="1151096" y="1797702"/>
                  </a:lnTo>
                  <a:lnTo>
                    <a:pt x="1196872" y="1784162"/>
                  </a:lnTo>
                  <a:lnTo>
                    <a:pt x="1241906" y="1768238"/>
                  </a:lnTo>
                  <a:lnTo>
                    <a:pt x="1286102" y="1749953"/>
                  </a:lnTo>
                  <a:lnTo>
                    <a:pt x="1329365" y="1729331"/>
                  </a:lnTo>
                  <a:lnTo>
                    <a:pt x="1371600" y="1706397"/>
                  </a:lnTo>
                  <a:lnTo>
                    <a:pt x="1412571" y="1681267"/>
                  </a:lnTo>
                  <a:lnTo>
                    <a:pt x="1452069" y="1654091"/>
                  </a:lnTo>
                  <a:lnTo>
                    <a:pt x="1490021" y="1624940"/>
                  </a:lnTo>
                  <a:lnTo>
                    <a:pt x="1526355" y="1593886"/>
                  </a:lnTo>
                  <a:lnTo>
                    <a:pt x="1561001" y="1561001"/>
                  </a:lnTo>
                  <a:lnTo>
                    <a:pt x="1593886" y="1526355"/>
                  </a:lnTo>
                  <a:lnTo>
                    <a:pt x="1624940" y="1490021"/>
                  </a:lnTo>
                  <a:lnTo>
                    <a:pt x="1654091" y="1452069"/>
                  </a:lnTo>
                  <a:lnTo>
                    <a:pt x="1681267" y="1412571"/>
                  </a:lnTo>
                  <a:lnTo>
                    <a:pt x="1706397" y="1371600"/>
                  </a:lnTo>
                  <a:lnTo>
                    <a:pt x="1729331" y="1329365"/>
                  </a:lnTo>
                  <a:lnTo>
                    <a:pt x="1749953" y="1286102"/>
                  </a:lnTo>
                  <a:lnTo>
                    <a:pt x="1768238" y="1241906"/>
                  </a:lnTo>
                  <a:lnTo>
                    <a:pt x="1784162" y="1196872"/>
                  </a:lnTo>
                  <a:lnTo>
                    <a:pt x="1797702" y="1151096"/>
                  </a:lnTo>
                  <a:lnTo>
                    <a:pt x="1808833" y="1104672"/>
                  </a:lnTo>
                  <a:lnTo>
                    <a:pt x="1817533" y="1057695"/>
                  </a:lnTo>
                  <a:lnTo>
                    <a:pt x="1823776" y="1010260"/>
                  </a:lnTo>
                  <a:lnTo>
                    <a:pt x="1827540" y="962464"/>
                  </a:lnTo>
                  <a:lnTo>
                    <a:pt x="1828800" y="914400"/>
                  </a:lnTo>
                  <a:lnTo>
                    <a:pt x="1827540" y="866332"/>
                  </a:lnTo>
                  <a:lnTo>
                    <a:pt x="1823776" y="818533"/>
                  </a:lnTo>
                  <a:lnTo>
                    <a:pt x="1817533" y="771096"/>
                  </a:lnTo>
                  <a:lnTo>
                    <a:pt x="1808833" y="724118"/>
                  </a:lnTo>
                  <a:lnTo>
                    <a:pt x="1797702" y="677694"/>
                  </a:lnTo>
                  <a:lnTo>
                    <a:pt x="1784162" y="631918"/>
                  </a:lnTo>
                  <a:lnTo>
                    <a:pt x="1768238" y="586885"/>
                  </a:lnTo>
                  <a:lnTo>
                    <a:pt x="1749953" y="542691"/>
                  </a:lnTo>
                  <a:lnTo>
                    <a:pt x="1729331" y="499431"/>
                  </a:lnTo>
                  <a:lnTo>
                    <a:pt x="1706397" y="457200"/>
                  </a:lnTo>
                  <a:lnTo>
                    <a:pt x="1681267" y="416225"/>
                  </a:lnTo>
                  <a:lnTo>
                    <a:pt x="1654091" y="376725"/>
                  </a:lnTo>
                  <a:lnTo>
                    <a:pt x="1624940" y="338772"/>
                  </a:lnTo>
                  <a:lnTo>
                    <a:pt x="1593886" y="302438"/>
                  </a:lnTo>
                  <a:lnTo>
                    <a:pt x="1561001" y="267792"/>
                  </a:lnTo>
                  <a:lnTo>
                    <a:pt x="1526355" y="234906"/>
                  </a:lnTo>
                  <a:lnTo>
                    <a:pt x="1490021" y="203852"/>
                  </a:lnTo>
                  <a:lnTo>
                    <a:pt x="1452069" y="174700"/>
                  </a:lnTo>
                  <a:lnTo>
                    <a:pt x="1412571" y="147522"/>
                  </a:lnTo>
                  <a:lnTo>
                    <a:pt x="1371600" y="122389"/>
                  </a:lnTo>
                  <a:lnTo>
                    <a:pt x="1329365" y="99455"/>
                  </a:lnTo>
                  <a:lnTo>
                    <a:pt x="1286102" y="78835"/>
                  </a:lnTo>
                  <a:lnTo>
                    <a:pt x="1241906" y="60551"/>
                  </a:lnTo>
                  <a:lnTo>
                    <a:pt x="1196872" y="44629"/>
                  </a:lnTo>
                  <a:lnTo>
                    <a:pt x="1151096" y="31091"/>
                  </a:lnTo>
                  <a:lnTo>
                    <a:pt x="1104672" y="19961"/>
                  </a:lnTo>
                  <a:lnTo>
                    <a:pt x="1057695" y="11263"/>
                  </a:lnTo>
                  <a:lnTo>
                    <a:pt x="1010260" y="5021"/>
                  </a:lnTo>
                  <a:lnTo>
                    <a:pt x="962464" y="125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A4A8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829444" y="1234084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4414" y="1929"/>
                  </a:lnTo>
                  <a:lnTo>
                    <a:pt x="583469" y="7681"/>
                  </a:lnTo>
                  <a:lnTo>
                    <a:pt x="533186" y="17198"/>
                  </a:lnTo>
                  <a:lnTo>
                    <a:pt x="483785" y="30425"/>
                  </a:lnTo>
                  <a:lnTo>
                    <a:pt x="435486" y="47304"/>
                  </a:lnTo>
                  <a:lnTo>
                    <a:pt x="388510" y="67780"/>
                  </a:lnTo>
                  <a:lnTo>
                    <a:pt x="343077" y="91795"/>
                  </a:lnTo>
                  <a:lnTo>
                    <a:pt x="299439" y="119166"/>
                  </a:lnTo>
                  <a:lnTo>
                    <a:pt x="258118" y="149641"/>
                  </a:lnTo>
                  <a:lnTo>
                    <a:pt x="219274" y="183062"/>
                  </a:lnTo>
                  <a:lnTo>
                    <a:pt x="183062" y="219274"/>
                  </a:lnTo>
                  <a:lnTo>
                    <a:pt x="149641" y="258118"/>
                  </a:lnTo>
                  <a:lnTo>
                    <a:pt x="119166" y="299439"/>
                  </a:lnTo>
                  <a:lnTo>
                    <a:pt x="91795" y="343077"/>
                  </a:lnTo>
                  <a:lnTo>
                    <a:pt x="67780" y="388510"/>
                  </a:lnTo>
                  <a:lnTo>
                    <a:pt x="47304" y="435486"/>
                  </a:lnTo>
                  <a:lnTo>
                    <a:pt x="30425" y="483785"/>
                  </a:lnTo>
                  <a:lnTo>
                    <a:pt x="17198" y="533186"/>
                  </a:lnTo>
                  <a:lnTo>
                    <a:pt x="7681" y="583469"/>
                  </a:lnTo>
                  <a:lnTo>
                    <a:pt x="1929" y="634414"/>
                  </a:lnTo>
                  <a:lnTo>
                    <a:pt x="0" y="685800"/>
                  </a:lnTo>
                  <a:lnTo>
                    <a:pt x="1929" y="737182"/>
                  </a:lnTo>
                  <a:lnTo>
                    <a:pt x="7681" y="788130"/>
                  </a:lnTo>
                  <a:lnTo>
                    <a:pt x="17198" y="838432"/>
                  </a:lnTo>
                  <a:lnTo>
                    <a:pt x="30425" y="887871"/>
                  </a:lnTo>
                  <a:lnTo>
                    <a:pt x="47304" y="936235"/>
                  </a:lnTo>
                  <a:lnTo>
                    <a:pt x="67780" y="983308"/>
                  </a:lnTo>
                  <a:lnTo>
                    <a:pt x="91795" y="1028877"/>
                  </a:lnTo>
                  <a:lnTo>
                    <a:pt x="119166" y="1072380"/>
                  </a:lnTo>
                  <a:lnTo>
                    <a:pt x="149641" y="1113602"/>
                  </a:lnTo>
                  <a:lnTo>
                    <a:pt x="183062" y="1152381"/>
                  </a:lnTo>
                  <a:lnTo>
                    <a:pt x="219274" y="1188553"/>
                  </a:lnTo>
                  <a:lnTo>
                    <a:pt x="258118" y="1221954"/>
                  </a:lnTo>
                  <a:lnTo>
                    <a:pt x="299439" y="1252421"/>
                  </a:lnTo>
                  <a:lnTo>
                    <a:pt x="343077" y="1279791"/>
                  </a:lnTo>
                  <a:lnTo>
                    <a:pt x="388510" y="1303807"/>
                  </a:lnTo>
                  <a:lnTo>
                    <a:pt x="435486" y="1324285"/>
                  </a:lnTo>
                  <a:lnTo>
                    <a:pt x="483785" y="1341166"/>
                  </a:lnTo>
                  <a:lnTo>
                    <a:pt x="533186" y="1354396"/>
                  </a:lnTo>
                  <a:lnTo>
                    <a:pt x="583469" y="1363915"/>
                  </a:lnTo>
                  <a:lnTo>
                    <a:pt x="634414" y="1369669"/>
                  </a:lnTo>
                  <a:lnTo>
                    <a:pt x="685800" y="1371600"/>
                  </a:lnTo>
                  <a:lnTo>
                    <a:pt x="737182" y="1369669"/>
                  </a:lnTo>
                  <a:lnTo>
                    <a:pt x="788130" y="1363915"/>
                  </a:lnTo>
                  <a:lnTo>
                    <a:pt x="838432" y="1354396"/>
                  </a:lnTo>
                  <a:lnTo>
                    <a:pt x="887871" y="1341166"/>
                  </a:lnTo>
                  <a:lnTo>
                    <a:pt x="936235" y="1324285"/>
                  </a:lnTo>
                  <a:lnTo>
                    <a:pt x="983308" y="1303807"/>
                  </a:lnTo>
                  <a:lnTo>
                    <a:pt x="1028877" y="1279791"/>
                  </a:lnTo>
                  <a:lnTo>
                    <a:pt x="1072380" y="1252421"/>
                  </a:lnTo>
                  <a:lnTo>
                    <a:pt x="1113602" y="1221954"/>
                  </a:lnTo>
                  <a:lnTo>
                    <a:pt x="1152381" y="1188553"/>
                  </a:lnTo>
                  <a:lnTo>
                    <a:pt x="1188553" y="1152381"/>
                  </a:lnTo>
                  <a:lnTo>
                    <a:pt x="1221954" y="1113602"/>
                  </a:lnTo>
                  <a:lnTo>
                    <a:pt x="1252421" y="1072380"/>
                  </a:lnTo>
                  <a:lnTo>
                    <a:pt x="1279791" y="1028877"/>
                  </a:lnTo>
                  <a:lnTo>
                    <a:pt x="1303807" y="983308"/>
                  </a:lnTo>
                  <a:lnTo>
                    <a:pt x="1324285" y="936235"/>
                  </a:lnTo>
                  <a:lnTo>
                    <a:pt x="1341166" y="887871"/>
                  </a:lnTo>
                  <a:lnTo>
                    <a:pt x="1354396" y="838432"/>
                  </a:lnTo>
                  <a:lnTo>
                    <a:pt x="1363915" y="788130"/>
                  </a:lnTo>
                  <a:lnTo>
                    <a:pt x="1369669" y="737182"/>
                  </a:lnTo>
                  <a:lnTo>
                    <a:pt x="1371600" y="685800"/>
                  </a:lnTo>
                  <a:lnTo>
                    <a:pt x="1369669" y="634414"/>
                  </a:lnTo>
                  <a:lnTo>
                    <a:pt x="1363915" y="583469"/>
                  </a:lnTo>
                  <a:lnTo>
                    <a:pt x="1354396" y="533186"/>
                  </a:lnTo>
                  <a:lnTo>
                    <a:pt x="1341166" y="483785"/>
                  </a:lnTo>
                  <a:lnTo>
                    <a:pt x="1324285" y="435486"/>
                  </a:lnTo>
                  <a:lnTo>
                    <a:pt x="1303807" y="388510"/>
                  </a:lnTo>
                  <a:lnTo>
                    <a:pt x="1279791" y="343077"/>
                  </a:lnTo>
                  <a:lnTo>
                    <a:pt x="1252421" y="299439"/>
                  </a:lnTo>
                  <a:lnTo>
                    <a:pt x="1221954" y="258118"/>
                  </a:lnTo>
                  <a:lnTo>
                    <a:pt x="1188553" y="219274"/>
                  </a:lnTo>
                  <a:lnTo>
                    <a:pt x="1152381" y="183062"/>
                  </a:lnTo>
                  <a:lnTo>
                    <a:pt x="1113602" y="149641"/>
                  </a:lnTo>
                  <a:lnTo>
                    <a:pt x="1072380" y="119166"/>
                  </a:lnTo>
                  <a:lnTo>
                    <a:pt x="1028877" y="91795"/>
                  </a:lnTo>
                  <a:lnTo>
                    <a:pt x="983308" y="67780"/>
                  </a:lnTo>
                  <a:lnTo>
                    <a:pt x="936235" y="47304"/>
                  </a:lnTo>
                  <a:lnTo>
                    <a:pt x="887871" y="30425"/>
                  </a:lnTo>
                  <a:lnTo>
                    <a:pt x="838432" y="17198"/>
                  </a:lnTo>
                  <a:lnTo>
                    <a:pt x="788130" y="7681"/>
                  </a:lnTo>
                  <a:lnTo>
                    <a:pt x="737182" y="192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A795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60964" y="27396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502920" y="0"/>
                  </a:moveTo>
                  <a:lnTo>
                    <a:pt x="450243" y="2784"/>
                  </a:lnTo>
                  <a:lnTo>
                    <a:pt x="398344" y="11045"/>
                  </a:lnTo>
                  <a:lnTo>
                    <a:pt x="347654" y="24644"/>
                  </a:lnTo>
                  <a:lnTo>
                    <a:pt x="298608" y="43445"/>
                  </a:lnTo>
                  <a:lnTo>
                    <a:pt x="251637" y="67309"/>
                  </a:lnTo>
                  <a:lnTo>
                    <a:pt x="207272" y="96123"/>
                  </a:lnTo>
                  <a:lnTo>
                    <a:pt x="166381" y="129239"/>
                  </a:lnTo>
                  <a:lnTo>
                    <a:pt x="129239" y="166381"/>
                  </a:lnTo>
                  <a:lnTo>
                    <a:pt x="96123" y="207272"/>
                  </a:lnTo>
                  <a:lnTo>
                    <a:pt x="67309" y="251637"/>
                  </a:lnTo>
                  <a:lnTo>
                    <a:pt x="43541" y="298419"/>
                  </a:lnTo>
                  <a:lnTo>
                    <a:pt x="24644" y="347654"/>
                  </a:lnTo>
                  <a:lnTo>
                    <a:pt x="11045" y="398344"/>
                  </a:lnTo>
                  <a:lnTo>
                    <a:pt x="2784" y="450243"/>
                  </a:lnTo>
                  <a:lnTo>
                    <a:pt x="0" y="502920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4" y="658256"/>
                  </a:lnTo>
                  <a:lnTo>
                    <a:pt x="43373" y="707220"/>
                  </a:lnTo>
                  <a:lnTo>
                    <a:pt x="67309" y="754557"/>
                  </a:lnTo>
                  <a:lnTo>
                    <a:pt x="96000" y="798554"/>
                  </a:lnTo>
                  <a:lnTo>
                    <a:pt x="96123" y="798742"/>
                  </a:lnTo>
                  <a:lnTo>
                    <a:pt x="129239" y="839525"/>
                  </a:lnTo>
                  <a:lnTo>
                    <a:pt x="166381" y="876610"/>
                  </a:lnTo>
                  <a:lnTo>
                    <a:pt x="207272" y="909706"/>
                  </a:lnTo>
                  <a:lnTo>
                    <a:pt x="251637" y="938517"/>
                  </a:lnTo>
                  <a:lnTo>
                    <a:pt x="298608" y="962382"/>
                  </a:lnTo>
                  <a:lnTo>
                    <a:pt x="347654" y="981186"/>
                  </a:lnTo>
                  <a:lnTo>
                    <a:pt x="398344" y="994790"/>
                  </a:lnTo>
                  <a:lnTo>
                    <a:pt x="450243" y="1003054"/>
                  </a:lnTo>
                  <a:lnTo>
                    <a:pt x="502920" y="1005839"/>
                  </a:lnTo>
                  <a:lnTo>
                    <a:pt x="555598" y="1003054"/>
                  </a:lnTo>
                  <a:lnTo>
                    <a:pt x="607514" y="994790"/>
                  </a:lnTo>
                  <a:lnTo>
                    <a:pt x="658256" y="981186"/>
                  </a:lnTo>
                  <a:lnTo>
                    <a:pt x="707408" y="962382"/>
                  </a:lnTo>
                  <a:lnTo>
                    <a:pt x="754557" y="938517"/>
                  </a:lnTo>
                  <a:lnTo>
                    <a:pt x="798738" y="909706"/>
                  </a:lnTo>
                  <a:lnTo>
                    <a:pt x="839496" y="876610"/>
                  </a:lnTo>
                  <a:lnTo>
                    <a:pt x="876531" y="839525"/>
                  </a:lnTo>
                  <a:lnTo>
                    <a:pt x="909706" y="798554"/>
                  </a:lnTo>
                  <a:lnTo>
                    <a:pt x="938517" y="754189"/>
                  </a:lnTo>
                  <a:lnTo>
                    <a:pt x="962287" y="707408"/>
                  </a:lnTo>
                  <a:lnTo>
                    <a:pt x="981156" y="658256"/>
                  </a:lnTo>
                  <a:lnTo>
                    <a:pt x="994784" y="607514"/>
                  </a:lnTo>
                  <a:lnTo>
                    <a:pt x="1003053" y="555598"/>
                  </a:lnTo>
                  <a:lnTo>
                    <a:pt x="1005840" y="502920"/>
                  </a:lnTo>
                  <a:lnTo>
                    <a:pt x="1003054" y="450243"/>
                  </a:lnTo>
                  <a:lnTo>
                    <a:pt x="994794" y="398344"/>
                  </a:lnTo>
                  <a:lnTo>
                    <a:pt x="981208" y="347654"/>
                  </a:lnTo>
                  <a:lnTo>
                    <a:pt x="962454" y="298608"/>
                  </a:lnTo>
                  <a:lnTo>
                    <a:pt x="938517" y="251269"/>
                  </a:lnTo>
                  <a:lnTo>
                    <a:pt x="909829" y="207272"/>
                  </a:lnTo>
                  <a:lnTo>
                    <a:pt x="876675" y="166381"/>
                  </a:lnTo>
                  <a:lnTo>
                    <a:pt x="839548" y="129239"/>
                  </a:lnTo>
                  <a:lnTo>
                    <a:pt x="798746" y="96123"/>
                  </a:lnTo>
                  <a:lnTo>
                    <a:pt x="754557" y="67309"/>
                  </a:lnTo>
                  <a:lnTo>
                    <a:pt x="707408" y="43445"/>
                  </a:lnTo>
                  <a:lnTo>
                    <a:pt x="658256" y="24644"/>
                  </a:lnTo>
                  <a:lnTo>
                    <a:pt x="607514" y="11045"/>
                  </a:lnTo>
                  <a:lnTo>
                    <a:pt x="555598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DF795E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183524" y="155412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80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5" y="85024"/>
                  </a:lnTo>
                  <a:lnTo>
                    <a:pt x="120507" y="120507"/>
                  </a:lnTo>
                  <a:lnTo>
                    <a:pt x="85024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24" y="662122"/>
                  </a:lnTo>
                  <a:lnTo>
                    <a:pt x="120507" y="702492"/>
                  </a:lnTo>
                  <a:lnTo>
                    <a:pt x="160985" y="737936"/>
                  </a:lnTo>
                  <a:lnTo>
                    <a:pt x="205917" y="767880"/>
                  </a:lnTo>
                  <a:lnTo>
                    <a:pt x="254135" y="791670"/>
                  </a:lnTo>
                  <a:lnTo>
                    <a:pt x="304917" y="808916"/>
                  </a:lnTo>
                  <a:lnTo>
                    <a:pt x="357590" y="819415"/>
                  </a:lnTo>
                  <a:lnTo>
                    <a:pt x="411480" y="822960"/>
                  </a:lnTo>
                  <a:lnTo>
                    <a:pt x="465369" y="819415"/>
                  </a:lnTo>
                  <a:lnTo>
                    <a:pt x="518082" y="808916"/>
                  </a:lnTo>
                  <a:lnTo>
                    <a:pt x="568972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2"/>
                  </a:lnTo>
                  <a:lnTo>
                    <a:pt x="808916" y="518082"/>
                  </a:lnTo>
                  <a:lnTo>
                    <a:pt x="819415" y="465369"/>
                  </a:lnTo>
                  <a:lnTo>
                    <a:pt x="822960" y="411479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6" y="160985"/>
                  </a:lnTo>
                  <a:lnTo>
                    <a:pt x="702492" y="120507"/>
                  </a:lnTo>
                  <a:lnTo>
                    <a:pt x="662122" y="85024"/>
                  </a:lnTo>
                  <a:lnTo>
                    <a:pt x="617397" y="55079"/>
                  </a:lnTo>
                  <a:lnTo>
                    <a:pt x="568972" y="31284"/>
                  </a:lnTo>
                  <a:lnTo>
                    <a:pt x="518082" y="14038"/>
                  </a:lnTo>
                  <a:lnTo>
                    <a:pt x="465369" y="3543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3C597F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08456" y="1442059"/>
            <a:ext cx="51441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C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3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4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6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5</a:t>
            </a:r>
            <a:r>
              <a:rPr dirty="0" sz="13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—</a:t>
            </a:r>
            <a:r>
              <a:rPr dirty="0" sz="13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65" b="1">
                <a:solidFill>
                  <a:srgbClr val="00E4C6"/>
                </a:solidFill>
                <a:latin typeface="Calibri"/>
                <a:cs typeface="Calibri"/>
              </a:rPr>
              <a:t>PAT</a:t>
            </a:r>
            <a:r>
              <a:rPr dirty="0" sz="13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3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300" spc="-1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C</a:t>
            </a:r>
            <a:r>
              <a:rPr dirty="0" sz="1300" spc="-11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G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300" spc="-9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3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&amp;</a:t>
            </a:r>
            <a:r>
              <a:rPr dirty="0" sz="13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A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L</a:t>
            </a:r>
            <a:r>
              <a:rPr dirty="0" sz="13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W</a:t>
            </a:r>
            <a:r>
              <a:rPr dirty="0" sz="13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3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3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E4C6"/>
                </a:solidFill>
                <a:latin typeface="Calibri"/>
                <a:cs typeface="Calibri"/>
              </a:rPr>
              <a:t>K</a:t>
            </a:r>
            <a:r>
              <a:rPr dirty="0" sz="1300" spc="-114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62736" y="1861464"/>
            <a:ext cx="257238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459">
                <a:solidFill>
                  <a:srgbClr val="FFFFFF"/>
                </a:solidFill>
              </a:rPr>
              <a:t>UMWM</a:t>
            </a:r>
            <a:endParaRPr sz="6000"/>
          </a:p>
        </p:txBody>
      </p:sp>
      <p:sp>
        <p:nvSpPr>
          <p:cNvPr id="10" name="object 10"/>
          <p:cNvSpPr txBox="1"/>
          <p:nvPr/>
        </p:nvSpPr>
        <p:spPr>
          <a:xfrm>
            <a:off x="808456" y="2867304"/>
            <a:ext cx="40798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i="1">
                <a:solidFill>
                  <a:srgbClr val="CEC8E7"/>
                </a:solidFill>
                <a:latin typeface="Times New Roman"/>
                <a:cs typeface="Times New Roman"/>
              </a:rPr>
              <a:t>Unified</a:t>
            </a:r>
            <a:r>
              <a:rPr dirty="0" sz="2400" i="1">
                <a:solidFill>
                  <a:srgbClr val="CEC8E7"/>
                </a:solidFill>
                <a:latin typeface="Times New Roman"/>
                <a:cs typeface="Times New Roman"/>
              </a:rPr>
              <a:t> Multimodal</a:t>
            </a:r>
            <a:r>
              <a:rPr dirty="0" sz="2400" spc="-5" i="1">
                <a:solidFill>
                  <a:srgbClr val="CEC8E7"/>
                </a:solidFill>
                <a:latin typeface="Times New Roman"/>
                <a:cs typeface="Times New Roman"/>
              </a:rPr>
              <a:t> </a:t>
            </a:r>
            <a:r>
              <a:rPr dirty="0" sz="2400" spc="-50" i="1">
                <a:solidFill>
                  <a:srgbClr val="CEC8E7"/>
                </a:solidFill>
                <a:latin typeface="Times New Roman"/>
                <a:cs typeface="Times New Roman"/>
              </a:rPr>
              <a:t>World</a:t>
            </a:r>
            <a:r>
              <a:rPr dirty="0" sz="2400" spc="5" i="1">
                <a:solidFill>
                  <a:srgbClr val="CEC8E7"/>
                </a:solidFill>
                <a:latin typeface="Times New Roman"/>
                <a:cs typeface="Times New Roman"/>
              </a:rPr>
              <a:t> </a:t>
            </a:r>
            <a:r>
              <a:rPr dirty="0" sz="2400" spc="-10" i="1">
                <a:solidFill>
                  <a:srgbClr val="CEC8E7"/>
                </a:solidFill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456" y="3517894"/>
            <a:ext cx="7651750" cy="50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A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single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shared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B6AFD5"/>
                </a:solidFill>
                <a:latin typeface="Calibri"/>
                <a:cs typeface="Calibri"/>
              </a:rPr>
              <a:t>encoder–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decoder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architecture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that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fuses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image,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audio,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text,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and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video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into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one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latent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space</a:t>
            </a:r>
            <a:r>
              <a:rPr dirty="0" sz="1350" spc="-50">
                <a:solidFill>
                  <a:srgbClr val="B6AFD5"/>
                </a:solidFill>
                <a:latin typeface="Calibri"/>
                <a:cs typeface="Calibri"/>
              </a:rPr>
              <a:t> — </a:t>
            </a:r>
            <a:r>
              <a:rPr dirty="0" sz="1350" spc="-20">
                <a:solidFill>
                  <a:srgbClr val="B6AFD5"/>
                </a:solidFill>
                <a:latin typeface="Calibri"/>
                <a:cs typeface="Calibri"/>
              </a:rPr>
              <a:t>generating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language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from</a:t>
            </a:r>
            <a:r>
              <a:rPr dirty="0" sz="1350" spc="-3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any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modality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predicting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future</a:t>
            </a:r>
            <a:r>
              <a:rPr dirty="0" sz="13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6AFD5"/>
                </a:solidFill>
                <a:latin typeface="Calibri"/>
                <a:cs typeface="Calibri"/>
              </a:rPr>
              <a:t>world</a:t>
            </a:r>
            <a:r>
              <a:rPr dirty="0" sz="1350" spc="-45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B6AFD5"/>
                </a:solidFill>
                <a:latin typeface="Calibri"/>
                <a:cs typeface="Calibri"/>
              </a:rPr>
              <a:t>states.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164" y="4343044"/>
            <a:ext cx="10698480" cy="1920239"/>
          </a:xfrm>
          <a:custGeom>
            <a:avLst/>
            <a:gdLst/>
            <a:ahLst/>
            <a:cxnLst/>
            <a:rect l="l" t="t" r="r" b="b"/>
            <a:pathLst>
              <a:path w="10698480" h="1920239">
                <a:moveTo>
                  <a:pt x="10625035" y="0"/>
                </a:moveTo>
                <a:lnTo>
                  <a:pt x="73075" y="0"/>
                </a:lnTo>
                <a:lnTo>
                  <a:pt x="63649" y="607"/>
                </a:lnTo>
                <a:lnTo>
                  <a:pt x="21458" y="21280"/>
                </a:lnTo>
                <a:lnTo>
                  <a:pt x="607" y="63442"/>
                </a:lnTo>
                <a:lnTo>
                  <a:pt x="0" y="73075"/>
                </a:lnTo>
                <a:lnTo>
                  <a:pt x="0" y="1847151"/>
                </a:lnTo>
                <a:lnTo>
                  <a:pt x="597" y="1856429"/>
                </a:lnTo>
                <a:lnTo>
                  <a:pt x="607" y="1856579"/>
                </a:lnTo>
                <a:lnTo>
                  <a:pt x="21280" y="1898769"/>
                </a:lnTo>
                <a:lnTo>
                  <a:pt x="63442" y="1919632"/>
                </a:lnTo>
                <a:lnTo>
                  <a:pt x="73075" y="1920240"/>
                </a:lnTo>
                <a:lnTo>
                  <a:pt x="10625391" y="1919871"/>
                </a:lnTo>
                <a:lnTo>
                  <a:pt x="10669769" y="1904830"/>
                </a:lnTo>
                <a:lnTo>
                  <a:pt x="10696034" y="1865874"/>
                </a:lnTo>
                <a:lnTo>
                  <a:pt x="10698457" y="1847151"/>
                </a:lnTo>
                <a:lnTo>
                  <a:pt x="10698480" y="1846795"/>
                </a:lnTo>
                <a:lnTo>
                  <a:pt x="10698111" y="73075"/>
                </a:lnTo>
                <a:lnTo>
                  <a:pt x="10683070" y="28698"/>
                </a:lnTo>
                <a:lnTo>
                  <a:pt x="10644070" y="2428"/>
                </a:lnTo>
                <a:lnTo>
                  <a:pt x="10634669" y="607"/>
                </a:lnTo>
                <a:lnTo>
                  <a:pt x="10625035" y="0"/>
                </a:lnTo>
                <a:close/>
              </a:path>
            </a:pathLst>
          </a:custGeom>
          <a:solidFill>
            <a:srgbClr val="2319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82776" y="4581969"/>
            <a:ext cx="1485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G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P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E4C6"/>
                </a:solidFill>
                <a:latin typeface="Calibri"/>
                <a:cs typeface="Calibri"/>
              </a:rPr>
              <a:t>M</a:t>
            </a:r>
            <a:r>
              <a:rPr dirty="0" sz="1200" spc="-6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8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E4C6"/>
                </a:solidFill>
                <a:latin typeface="Calibri"/>
                <a:cs typeface="Calibri"/>
              </a:rPr>
              <a:t>M</a:t>
            </a:r>
            <a:r>
              <a:rPr dirty="0" sz="1200" spc="-6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B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9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05839" y="498347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25" y="6434"/>
                </a:lnTo>
                <a:lnTo>
                  <a:pt x="96126" y="25565"/>
                </a:lnTo>
                <a:lnTo>
                  <a:pt x="56249" y="56070"/>
                </a:lnTo>
                <a:lnTo>
                  <a:pt x="25565" y="95758"/>
                </a:lnTo>
                <a:lnTo>
                  <a:pt x="6572" y="142063"/>
                </a:lnTo>
                <a:lnTo>
                  <a:pt x="0" y="191884"/>
                </a:lnTo>
                <a:lnTo>
                  <a:pt x="1665" y="217074"/>
                </a:lnTo>
                <a:lnTo>
                  <a:pt x="14583" y="265436"/>
                </a:lnTo>
                <a:lnTo>
                  <a:pt x="39624" y="308888"/>
                </a:lnTo>
                <a:lnTo>
                  <a:pt x="75173" y="344192"/>
                </a:lnTo>
                <a:lnTo>
                  <a:pt x="118686" y="369390"/>
                </a:lnTo>
                <a:lnTo>
                  <a:pt x="167044" y="382452"/>
                </a:lnTo>
                <a:lnTo>
                  <a:pt x="192239" y="384124"/>
                </a:lnTo>
                <a:lnTo>
                  <a:pt x="217224" y="382452"/>
                </a:lnTo>
                <a:lnTo>
                  <a:pt x="265441" y="369390"/>
                </a:lnTo>
                <a:lnTo>
                  <a:pt x="308945" y="344192"/>
                </a:lnTo>
                <a:lnTo>
                  <a:pt x="344497" y="308888"/>
                </a:lnTo>
                <a:lnTo>
                  <a:pt x="369540" y="265436"/>
                </a:lnTo>
                <a:lnTo>
                  <a:pt x="382458" y="217074"/>
                </a:lnTo>
                <a:lnTo>
                  <a:pt x="384124" y="191884"/>
                </a:lnTo>
                <a:lnTo>
                  <a:pt x="382458" y="166686"/>
                </a:lnTo>
                <a:lnTo>
                  <a:pt x="369540" y="118319"/>
                </a:lnTo>
                <a:lnTo>
                  <a:pt x="344497" y="74867"/>
                </a:lnTo>
                <a:lnTo>
                  <a:pt x="308945" y="39568"/>
                </a:lnTo>
                <a:lnTo>
                  <a:pt x="265441" y="14428"/>
                </a:lnTo>
                <a:lnTo>
                  <a:pt x="217224" y="1613"/>
                </a:lnTo>
                <a:lnTo>
                  <a:pt x="192239" y="0"/>
                </a:lnTo>
                <a:close/>
              </a:path>
            </a:pathLst>
          </a:custGeom>
          <a:solidFill>
            <a:srgbClr val="00E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40015" y="5068696"/>
            <a:ext cx="2469515" cy="5410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458470" algn="l"/>
              </a:tabLst>
            </a:pPr>
            <a:r>
              <a:rPr dirty="0" baseline="1984" sz="2100" spc="-75" b="1">
                <a:solidFill>
                  <a:srgbClr val="1A0F34"/>
                </a:solidFill>
                <a:latin typeface="Calibri"/>
                <a:cs typeface="Calibri"/>
              </a:rPr>
              <a:t>1</a:t>
            </a:r>
            <a:r>
              <a:rPr dirty="0" baseline="1984" sz="2100" b="1">
                <a:solidFill>
                  <a:srgbClr val="1A0F34"/>
                </a:solidFill>
                <a:latin typeface="Calibri"/>
                <a:cs typeface="Calibri"/>
              </a:rPr>
              <a:t>	</a:t>
            </a:r>
            <a:r>
              <a:rPr dirty="0" sz="1350" b="1">
                <a:solidFill>
                  <a:srgbClr val="FFFFFF"/>
                </a:solidFill>
                <a:latin typeface="Calibri"/>
                <a:cs typeface="Calibri"/>
              </a:rPr>
              <a:t>Md.</a:t>
            </a:r>
            <a:r>
              <a:rPr dirty="0" sz="13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Calibri"/>
                <a:cs typeface="Calibri"/>
              </a:rPr>
              <a:t>Miraz</a:t>
            </a:r>
            <a:r>
              <a:rPr dirty="0" sz="135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Calibri"/>
                <a:cs typeface="Calibri"/>
              </a:rPr>
              <a:t>Ihsan</a:t>
            </a:r>
            <a:r>
              <a:rPr dirty="0" sz="135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Calibri"/>
                <a:cs typeface="Calibri"/>
              </a:rPr>
              <a:t>Chowdhury</a:t>
            </a:r>
            <a:endParaRPr sz="1350">
              <a:latin typeface="Calibri"/>
              <a:cs typeface="Calibri"/>
            </a:endParaRPr>
          </a:p>
          <a:p>
            <a:pPr marL="458470">
              <a:lnSpc>
                <a:spcPct val="100000"/>
              </a:lnSpc>
              <a:spcBef>
                <a:spcPts val="1050"/>
              </a:spcBef>
            </a:pPr>
            <a:r>
              <a:rPr dirty="0" sz="1150">
                <a:solidFill>
                  <a:srgbClr val="B6AFD5"/>
                </a:solidFill>
                <a:latin typeface="Calibri"/>
                <a:cs typeface="Calibri"/>
              </a:rPr>
              <a:t>ID:</a:t>
            </a:r>
            <a:r>
              <a:rPr dirty="0" sz="11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B6AFD5"/>
                </a:solidFill>
                <a:latin typeface="Calibri"/>
                <a:cs typeface="Calibri"/>
              </a:rPr>
              <a:t>2131407642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89120" y="498347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25" y="6434"/>
                </a:lnTo>
                <a:lnTo>
                  <a:pt x="96126" y="25565"/>
                </a:lnTo>
                <a:lnTo>
                  <a:pt x="56249" y="56070"/>
                </a:lnTo>
                <a:lnTo>
                  <a:pt x="25565" y="95758"/>
                </a:lnTo>
                <a:lnTo>
                  <a:pt x="6572" y="142063"/>
                </a:lnTo>
                <a:lnTo>
                  <a:pt x="0" y="191884"/>
                </a:lnTo>
                <a:lnTo>
                  <a:pt x="1665" y="217074"/>
                </a:lnTo>
                <a:lnTo>
                  <a:pt x="14583" y="265436"/>
                </a:lnTo>
                <a:lnTo>
                  <a:pt x="39624" y="308888"/>
                </a:lnTo>
                <a:lnTo>
                  <a:pt x="75173" y="344192"/>
                </a:lnTo>
                <a:lnTo>
                  <a:pt x="118686" y="369390"/>
                </a:lnTo>
                <a:lnTo>
                  <a:pt x="167044" y="382452"/>
                </a:lnTo>
                <a:lnTo>
                  <a:pt x="192239" y="384124"/>
                </a:lnTo>
                <a:lnTo>
                  <a:pt x="217224" y="382452"/>
                </a:lnTo>
                <a:lnTo>
                  <a:pt x="265441" y="369390"/>
                </a:lnTo>
                <a:lnTo>
                  <a:pt x="308945" y="344192"/>
                </a:lnTo>
                <a:lnTo>
                  <a:pt x="344497" y="308888"/>
                </a:lnTo>
                <a:lnTo>
                  <a:pt x="369540" y="265436"/>
                </a:lnTo>
                <a:lnTo>
                  <a:pt x="382458" y="217074"/>
                </a:lnTo>
                <a:lnTo>
                  <a:pt x="384124" y="191884"/>
                </a:lnTo>
                <a:lnTo>
                  <a:pt x="382458" y="166686"/>
                </a:lnTo>
                <a:lnTo>
                  <a:pt x="369540" y="118319"/>
                </a:lnTo>
                <a:lnTo>
                  <a:pt x="344497" y="74867"/>
                </a:lnTo>
                <a:lnTo>
                  <a:pt x="308945" y="39568"/>
                </a:lnTo>
                <a:lnTo>
                  <a:pt x="265441" y="14428"/>
                </a:lnTo>
                <a:lnTo>
                  <a:pt x="217224" y="1613"/>
                </a:lnTo>
                <a:lnTo>
                  <a:pt x="192239" y="0"/>
                </a:lnTo>
                <a:close/>
              </a:path>
            </a:pathLst>
          </a:custGeom>
          <a:solidFill>
            <a:srgbClr val="00E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523295" y="5068696"/>
            <a:ext cx="2033270" cy="5410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458470" algn="l"/>
              </a:tabLst>
            </a:pPr>
            <a:r>
              <a:rPr dirty="0" baseline="1984" sz="2100" spc="-75" b="1">
                <a:solidFill>
                  <a:srgbClr val="1A0F34"/>
                </a:solidFill>
                <a:latin typeface="Calibri"/>
                <a:cs typeface="Calibri"/>
              </a:rPr>
              <a:t>2</a:t>
            </a:r>
            <a:r>
              <a:rPr dirty="0" baseline="1984" sz="2100" b="1">
                <a:solidFill>
                  <a:srgbClr val="1A0F34"/>
                </a:solidFill>
                <a:latin typeface="Calibri"/>
                <a:cs typeface="Calibri"/>
              </a:rPr>
              <a:t>	</a:t>
            </a:r>
            <a:r>
              <a:rPr dirty="0" sz="1350" spc="-10" b="1">
                <a:solidFill>
                  <a:srgbClr val="FFFFFF"/>
                </a:solidFill>
                <a:latin typeface="Calibri"/>
                <a:cs typeface="Calibri"/>
              </a:rPr>
              <a:t>Jannatul Ferdaus</a:t>
            </a:r>
            <a:r>
              <a:rPr dirty="0" sz="13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25" b="1">
                <a:solidFill>
                  <a:srgbClr val="FFFFFF"/>
                </a:solidFill>
                <a:latin typeface="Calibri"/>
                <a:cs typeface="Calibri"/>
              </a:rPr>
              <a:t>Mim</a:t>
            </a:r>
            <a:endParaRPr sz="1350">
              <a:latin typeface="Calibri"/>
              <a:cs typeface="Calibri"/>
            </a:endParaRPr>
          </a:p>
          <a:p>
            <a:pPr marL="458470">
              <a:lnSpc>
                <a:spcPct val="100000"/>
              </a:lnSpc>
              <a:spcBef>
                <a:spcPts val="1050"/>
              </a:spcBef>
            </a:pPr>
            <a:r>
              <a:rPr dirty="0" sz="1150">
                <a:solidFill>
                  <a:srgbClr val="B6AFD5"/>
                </a:solidFill>
                <a:latin typeface="Calibri"/>
                <a:cs typeface="Calibri"/>
              </a:rPr>
              <a:t>ID:</a:t>
            </a:r>
            <a:r>
              <a:rPr dirty="0" sz="11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B6AFD5"/>
                </a:solidFill>
                <a:latin typeface="Calibri"/>
                <a:cs typeface="Calibri"/>
              </a:rPr>
              <a:t>2311593042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72400" y="498347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25" y="6434"/>
                </a:lnTo>
                <a:lnTo>
                  <a:pt x="96126" y="25565"/>
                </a:lnTo>
                <a:lnTo>
                  <a:pt x="56249" y="56070"/>
                </a:lnTo>
                <a:lnTo>
                  <a:pt x="25565" y="95758"/>
                </a:lnTo>
                <a:lnTo>
                  <a:pt x="6572" y="142063"/>
                </a:lnTo>
                <a:lnTo>
                  <a:pt x="0" y="191884"/>
                </a:lnTo>
                <a:lnTo>
                  <a:pt x="1665" y="217074"/>
                </a:lnTo>
                <a:lnTo>
                  <a:pt x="14583" y="265436"/>
                </a:lnTo>
                <a:lnTo>
                  <a:pt x="39624" y="308888"/>
                </a:lnTo>
                <a:lnTo>
                  <a:pt x="75173" y="344192"/>
                </a:lnTo>
                <a:lnTo>
                  <a:pt x="118686" y="369390"/>
                </a:lnTo>
                <a:lnTo>
                  <a:pt x="167044" y="382452"/>
                </a:lnTo>
                <a:lnTo>
                  <a:pt x="192239" y="384124"/>
                </a:lnTo>
                <a:lnTo>
                  <a:pt x="217224" y="382452"/>
                </a:lnTo>
                <a:lnTo>
                  <a:pt x="265441" y="369390"/>
                </a:lnTo>
                <a:lnTo>
                  <a:pt x="308945" y="344192"/>
                </a:lnTo>
                <a:lnTo>
                  <a:pt x="344497" y="308888"/>
                </a:lnTo>
                <a:lnTo>
                  <a:pt x="369540" y="265436"/>
                </a:lnTo>
                <a:lnTo>
                  <a:pt x="382458" y="217074"/>
                </a:lnTo>
                <a:lnTo>
                  <a:pt x="384124" y="191884"/>
                </a:lnTo>
                <a:lnTo>
                  <a:pt x="382458" y="166686"/>
                </a:lnTo>
                <a:lnTo>
                  <a:pt x="369540" y="118319"/>
                </a:lnTo>
                <a:lnTo>
                  <a:pt x="344497" y="74867"/>
                </a:lnTo>
                <a:lnTo>
                  <a:pt x="308945" y="39568"/>
                </a:lnTo>
                <a:lnTo>
                  <a:pt x="265441" y="14428"/>
                </a:lnTo>
                <a:lnTo>
                  <a:pt x="217224" y="1613"/>
                </a:lnTo>
                <a:lnTo>
                  <a:pt x="192239" y="0"/>
                </a:lnTo>
                <a:close/>
              </a:path>
            </a:pathLst>
          </a:custGeom>
          <a:solidFill>
            <a:srgbClr val="00E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906575" y="5068696"/>
            <a:ext cx="2014220" cy="5410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458470" algn="l"/>
              </a:tabLst>
            </a:pPr>
            <a:r>
              <a:rPr dirty="0" baseline="1984" sz="2100" spc="-75" b="1">
                <a:solidFill>
                  <a:srgbClr val="1A0F34"/>
                </a:solidFill>
                <a:latin typeface="Calibri"/>
                <a:cs typeface="Calibri"/>
              </a:rPr>
              <a:t>3</a:t>
            </a:r>
            <a:r>
              <a:rPr dirty="0" baseline="1984" sz="2100" b="1">
                <a:solidFill>
                  <a:srgbClr val="1A0F34"/>
                </a:solidFill>
                <a:latin typeface="Calibri"/>
                <a:cs typeface="Calibri"/>
              </a:rPr>
              <a:t>	</a:t>
            </a:r>
            <a:r>
              <a:rPr dirty="0" sz="1350" spc="-25" b="1">
                <a:solidFill>
                  <a:srgbClr val="FFFFFF"/>
                </a:solidFill>
                <a:latin typeface="Calibri"/>
                <a:cs typeface="Calibri"/>
              </a:rPr>
              <a:t>Tasfiah</a:t>
            </a:r>
            <a:r>
              <a:rPr dirty="0" sz="13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FFFF"/>
                </a:solidFill>
                <a:latin typeface="Calibri"/>
                <a:cs typeface="Calibri"/>
              </a:rPr>
              <a:t>Hossain</a:t>
            </a:r>
            <a:r>
              <a:rPr dirty="0" sz="13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Calibri"/>
                <a:cs typeface="Calibri"/>
              </a:rPr>
              <a:t>Lamia</a:t>
            </a:r>
            <a:endParaRPr sz="1350">
              <a:latin typeface="Calibri"/>
              <a:cs typeface="Calibri"/>
            </a:endParaRPr>
          </a:p>
          <a:p>
            <a:pPr marL="458470">
              <a:lnSpc>
                <a:spcPct val="100000"/>
              </a:lnSpc>
              <a:spcBef>
                <a:spcPts val="1050"/>
              </a:spcBef>
            </a:pPr>
            <a:r>
              <a:rPr dirty="0" sz="1150">
                <a:solidFill>
                  <a:srgbClr val="B6AFD5"/>
                </a:solidFill>
                <a:latin typeface="Calibri"/>
                <a:cs typeface="Calibri"/>
              </a:rPr>
              <a:t>ID:</a:t>
            </a:r>
            <a:r>
              <a:rPr dirty="0" sz="1150" spc="-40">
                <a:solidFill>
                  <a:srgbClr val="B6AFD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B6AFD5"/>
                </a:solidFill>
                <a:latin typeface="Calibri"/>
                <a:cs typeface="Calibri"/>
              </a:rPr>
              <a:t>2231699042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677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1</a:t>
            </a:r>
            <a:r>
              <a:rPr dirty="0" sz="1200" spc="3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P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9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J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C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-1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P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dirty="0" spc="-114"/>
              <a:t> </a:t>
            </a:r>
            <a:r>
              <a:rPr dirty="0" spc="95"/>
              <a:t>model,</a:t>
            </a:r>
            <a:r>
              <a:rPr dirty="0" spc="-105"/>
              <a:t> </a:t>
            </a:r>
            <a:r>
              <a:rPr dirty="0" spc="65"/>
              <a:t>four</a:t>
            </a:r>
            <a:r>
              <a:rPr dirty="0" spc="-105"/>
              <a:t> </a:t>
            </a:r>
            <a:r>
              <a:rPr dirty="0" spc="135"/>
              <a:t>senses,</a:t>
            </a:r>
            <a:r>
              <a:rPr dirty="0" spc="-105"/>
              <a:t> </a:t>
            </a:r>
            <a:r>
              <a:rPr dirty="0" spc="145"/>
              <a:t>one</a:t>
            </a:r>
            <a:r>
              <a:rPr dirty="0" spc="-100"/>
              <a:t> </a:t>
            </a:r>
            <a:r>
              <a:rPr dirty="0" spc="100"/>
              <a:t>shared</a:t>
            </a:r>
            <a:r>
              <a:rPr dirty="0" spc="-105"/>
              <a:t> </a:t>
            </a:r>
            <a:r>
              <a:rPr dirty="0" spc="90"/>
              <a:t>mind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016" y="1622915"/>
            <a:ext cx="5641340" cy="114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00"/>
              </a:spcBef>
            </a:pP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UMWM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(Unified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Multimodal</a:t>
            </a:r>
            <a:r>
              <a:rPr dirty="0" sz="145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World</a:t>
            </a:r>
            <a:r>
              <a:rPr dirty="0" sz="145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Model)</a:t>
            </a:r>
            <a:r>
              <a:rPr dirty="0" sz="145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explores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whether</a:t>
            </a:r>
            <a:r>
              <a:rPr dirty="0" sz="145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single,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compact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neural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network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can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learn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one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shared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representation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for</a:t>
            </a:r>
            <a:r>
              <a:rPr dirty="0" sz="145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four</a:t>
            </a:r>
            <a:r>
              <a:rPr dirty="0" sz="145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221A3C"/>
                </a:solidFill>
                <a:latin typeface="Calibri"/>
                <a:cs typeface="Calibri"/>
              </a:rPr>
              <a:t>very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different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data</a:t>
            </a:r>
            <a:r>
              <a:rPr dirty="0" sz="145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types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45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image,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audio,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text,</a:t>
            </a:r>
            <a:r>
              <a:rPr dirty="0" sz="145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and</a:t>
            </a:r>
            <a:r>
              <a:rPr dirty="0" sz="145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video</a:t>
            </a:r>
            <a:r>
              <a:rPr dirty="0" sz="145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instead</a:t>
            </a:r>
            <a:r>
              <a:rPr dirty="0" sz="145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of</a:t>
            </a:r>
            <a:r>
              <a:rPr dirty="0" sz="145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training</a:t>
            </a:r>
            <a:r>
              <a:rPr dirty="0" sz="145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221A3C"/>
                </a:solidFill>
                <a:latin typeface="Calibri"/>
                <a:cs typeface="Calibri"/>
              </a:rPr>
              <a:t>a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separate</a:t>
            </a:r>
            <a:r>
              <a:rPr dirty="0" sz="145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model</a:t>
            </a:r>
            <a:r>
              <a:rPr dirty="0" sz="145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21A3C"/>
                </a:solidFill>
                <a:latin typeface="Calibri"/>
                <a:cs typeface="Calibri"/>
              </a:rPr>
              <a:t>per</a:t>
            </a:r>
            <a:r>
              <a:rPr dirty="0" sz="145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21A3C"/>
                </a:solidFill>
                <a:latin typeface="Calibri"/>
                <a:cs typeface="Calibri"/>
              </a:rPr>
              <a:t>modality.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00"/>
              </a:spcBef>
            </a:pPr>
            <a:r>
              <a:rPr dirty="0"/>
              <a:t>Every</a:t>
            </a:r>
            <a:r>
              <a:rPr dirty="0" spc="-40"/>
              <a:t> </a:t>
            </a:r>
            <a:r>
              <a:rPr dirty="0"/>
              <a:t>sample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first</a:t>
            </a:r>
            <a:r>
              <a:rPr dirty="0" spc="-40"/>
              <a:t> </a:t>
            </a:r>
            <a:r>
              <a:rPr dirty="0"/>
              <a:t>mapped</a:t>
            </a:r>
            <a:r>
              <a:rPr dirty="0" spc="-40"/>
              <a:t> </a:t>
            </a:r>
            <a:r>
              <a:rPr dirty="0"/>
              <a:t>into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common</a:t>
            </a:r>
            <a:r>
              <a:rPr dirty="0" spc="-35"/>
              <a:t> </a:t>
            </a:r>
            <a:r>
              <a:rPr dirty="0" spc="-10"/>
              <a:t>latent</a:t>
            </a:r>
            <a:r>
              <a:rPr dirty="0" spc="-40"/>
              <a:t> </a:t>
            </a:r>
            <a:r>
              <a:rPr dirty="0"/>
              <a:t>space.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 spc="-10"/>
              <a:t>single </a:t>
            </a:r>
            <a:r>
              <a:rPr dirty="0"/>
              <a:t>space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model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 spc="-10"/>
              <a:t>reconstruct</a:t>
            </a:r>
            <a:r>
              <a:rPr dirty="0" spc="-15"/>
              <a:t> </a:t>
            </a:r>
            <a:r>
              <a:rPr dirty="0"/>
              <a:t>images,</a:t>
            </a:r>
            <a:r>
              <a:rPr dirty="0" spc="-20"/>
              <a:t> </a:t>
            </a:r>
            <a:r>
              <a:rPr dirty="0" spc="-10"/>
              <a:t>generate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natural-</a:t>
            </a:r>
            <a:r>
              <a:rPr dirty="0" spc="-10"/>
              <a:t>language </a:t>
            </a:r>
            <a:r>
              <a:rPr dirty="0"/>
              <a:t>caption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35"/>
              <a:t> </a:t>
            </a:r>
            <a:r>
              <a:rPr dirty="0"/>
              <a:t>any</a:t>
            </a:r>
            <a:r>
              <a:rPr dirty="0" spc="-40"/>
              <a:t> </a:t>
            </a:r>
            <a:r>
              <a:rPr dirty="0"/>
              <a:t>input</a:t>
            </a:r>
            <a:r>
              <a:rPr dirty="0" spc="-35"/>
              <a:t> </a:t>
            </a:r>
            <a:r>
              <a:rPr dirty="0" spc="-20"/>
              <a:t>modality,</a:t>
            </a:r>
            <a:r>
              <a:rPr dirty="0" spc="-40"/>
              <a:t> </a:t>
            </a:r>
            <a:r>
              <a:rPr dirty="0"/>
              <a:t>classify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object,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even</a:t>
            </a:r>
            <a:r>
              <a:rPr dirty="0" spc="-35"/>
              <a:t> </a:t>
            </a:r>
            <a:r>
              <a:rPr dirty="0"/>
              <a:t>“imagine”</a:t>
            </a:r>
            <a:r>
              <a:rPr dirty="0" spc="-35"/>
              <a:t> </a:t>
            </a:r>
            <a:r>
              <a:rPr dirty="0" spc="-50"/>
              <a:t>— </a:t>
            </a:r>
            <a:r>
              <a:rPr dirty="0"/>
              <a:t>roll</a:t>
            </a:r>
            <a:r>
              <a:rPr dirty="0" spc="-35"/>
              <a:t> </a:t>
            </a:r>
            <a:r>
              <a:rPr dirty="0"/>
              <a:t>forward</a:t>
            </a:r>
            <a:r>
              <a:rPr dirty="0" spc="-25"/>
              <a:t> </a:t>
            </a:r>
            <a:r>
              <a:rPr dirty="0"/>
              <a:t>—</a:t>
            </a:r>
            <a:r>
              <a:rPr dirty="0" spc="-30"/>
              <a:t> </a:t>
            </a:r>
            <a:r>
              <a:rPr dirty="0"/>
              <a:t>future</a:t>
            </a:r>
            <a:r>
              <a:rPr dirty="0" spc="-20"/>
              <a:t> </a:t>
            </a:r>
            <a:r>
              <a:rPr dirty="0" spc="-10"/>
              <a:t>states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scene.</a:t>
            </a:r>
            <a:r>
              <a:rPr dirty="0" spc="-25"/>
              <a:t> </a:t>
            </a:r>
            <a:r>
              <a:rPr dirty="0"/>
              <a:t>This</a:t>
            </a:r>
            <a:r>
              <a:rPr dirty="0" spc="-30"/>
              <a:t> </a:t>
            </a:r>
            <a:r>
              <a:rPr dirty="0"/>
              <a:t>last</a:t>
            </a:r>
            <a:r>
              <a:rPr dirty="0" spc="-25"/>
              <a:t> </a:t>
            </a:r>
            <a:r>
              <a:rPr dirty="0"/>
              <a:t>piece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what</a:t>
            </a:r>
            <a:r>
              <a:rPr dirty="0" spc="-30"/>
              <a:t> </a:t>
            </a:r>
            <a:r>
              <a:rPr dirty="0" spc="-10"/>
              <a:t>makes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30"/>
              <a:t> </a:t>
            </a:r>
            <a:r>
              <a:rPr dirty="0" spc="-50"/>
              <a:t>a </a:t>
            </a:r>
            <a:r>
              <a:rPr dirty="0"/>
              <a:t>world</a:t>
            </a:r>
            <a:r>
              <a:rPr dirty="0" spc="-35"/>
              <a:t> </a:t>
            </a:r>
            <a:r>
              <a:rPr dirty="0"/>
              <a:t>model,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45"/>
              <a:t> </a:t>
            </a:r>
            <a:r>
              <a:rPr dirty="0"/>
              <a:t>just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multimodal</a:t>
            </a:r>
            <a:r>
              <a:rPr dirty="0" spc="-25"/>
              <a:t> </a:t>
            </a:r>
            <a:r>
              <a:rPr dirty="0" spc="-10"/>
              <a:t>encoder.</a:t>
            </a:r>
          </a:p>
        </p:txBody>
      </p:sp>
      <p:sp>
        <p:nvSpPr>
          <p:cNvPr id="6" name="object 6"/>
          <p:cNvSpPr/>
          <p:nvPr/>
        </p:nvSpPr>
        <p:spPr>
          <a:xfrm>
            <a:off x="639724" y="4617720"/>
            <a:ext cx="5943600" cy="1417320"/>
          </a:xfrm>
          <a:custGeom>
            <a:avLst/>
            <a:gdLst/>
            <a:ahLst/>
            <a:cxnLst/>
            <a:rect l="l" t="t" r="r" b="b"/>
            <a:pathLst>
              <a:path w="5943600" h="1417320">
                <a:moveTo>
                  <a:pt x="5870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1344244"/>
                </a:lnTo>
                <a:lnTo>
                  <a:pt x="594" y="1353515"/>
                </a:lnTo>
                <a:lnTo>
                  <a:pt x="607" y="1353720"/>
                </a:lnTo>
                <a:lnTo>
                  <a:pt x="2394" y="1362916"/>
                </a:lnTo>
                <a:lnTo>
                  <a:pt x="2428" y="1363095"/>
                </a:lnTo>
                <a:lnTo>
                  <a:pt x="5412" y="1371979"/>
                </a:lnTo>
                <a:lnTo>
                  <a:pt x="5464" y="1372135"/>
                </a:lnTo>
                <a:lnTo>
                  <a:pt x="36360" y="1407604"/>
                </a:lnTo>
                <a:lnTo>
                  <a:pt x="73075" y="1417319"/>
                </a:lnTo>
                <a:lnTo>
                  <a:pt x="5870511" y="1416964"/>
                </a:lnTo>
                <a:lnTo>
                  <a:pt x="5914889" y="1401860"/>
                </a:lnTo>
                <a:lnTo>
                  <a:pt x="5938052" y="1372135"/>
                </a:lnTo>
                <a:lnTo>
                  <a:pt x="5938129" y="1371979"/>
                </a:lnTo>
                <a:lnTo>
                  <a:pt x="5943576" y="1344244"/>
                </a:lnTo>
                <a:lnTo>
                  <a:pt x="5943599" y="1343875"/>
                </a:lnTo>
                <a:lnTo>
                  <a:pt x="5943231" y="73075"/>
                </a:lnTo>
                <a:lnTo>
                  <a:pt x="5928140" y="28705"/>
                </a:lnTo>
                <a:lnTo>
                  <a:pt x="5889190" y="2428"/>
                </a:lnTo>
                <a:lnTo>
                  <a:pt x="5879789" y="607"/>
                </a:lnTo>
                <a:lnTo>
                  <a:pt x="5870155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45616" y="4813465"/>
            <a:ext cx="12782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W</a:t>
            </a:r>
            <a:r>
              <a:rPr dirty="0" sz="1100" spc="-10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H</a:t>
            </a:r>
            <a:r>
              <a:rPr dirty="0" sz="1100" spc="-9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5A4A89"/>
                </a:solidFill>
                <a:latin typeface="Calibri"/>
                <a:cs typeface="Calibri"/>
              </a:rPr>
              <a:t>Y</a:t>
            </a:r>
            <a:r>
              <a:rPr dirty="0" sz="1100" spc="3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5A4A89"/>
                </a:solidFill>
                <a:latin typeface="Calibri"/>
                <a:cs typeface="Calibri"/>
              </a:rPr>
              <a:t>I</a:t>
            </a:r>
            <a:r>
              <a:rPr dirty="0" sz="1100" spc="-10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5A4A89"/>
                </a:solidFill>
                <a:latin typeface="Calibri"/>
                <a:cs typeface="Calibri"/>
              </a:rPr>
              <a:t>T</a:t>
            </a:r>
            <a:r>
              <a:rPr dirty="0" sz="1100" spc="31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M</a:t>
            </a:r>
            <a:r>
              <a:rPr dirty="0" sz="1100" spc="-9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5A4A89"/>
                </a:solidFill>
                <a:latin typeface="Calibri"/>
                <a:cs typeface="Calibri"/>
              </a:rPr>
              <a:t>AT</a:t>
            </a:r>
            <a:r>
              <a:rPr dirty="0" sz="1100" spc="-8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T</a:t>
            </a:r>
            <a:r>
              <a:rPr dirty="0" sz="1100" spc="-9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E</a:t>
            </a:r>
            <a:r>
              <a:rPr dirty="0" sz="1100" spc="-10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A4A89"/>
                </a:solidFill>
                <a:latin typeface="Calibri"/>
                <a:cs typeface="Calibri"/>
              </a:rPr>
              <a:t>R</a:t>
            </a:r>
            <a:r>
              <a:rPr dirty="0" sz="1100" spc="-10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5A4A89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616" y="5153738"/>
            <a:ext cx="509397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Real-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world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agents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perceive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world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through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many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channels</a:t>
            </a:r>
            <a:r>
              <a:rPr dirty="0" sz="1250" spc="-3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at</a:t>
            </a:r>
            <a:r>
              <a:rPr dirty="0" sz="1250" spc="-3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once.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221A3C"/>
                </a:solidFill>
                <a:latin typeface="Calibri"/>
                <a:cs typeface="Calibri"/>
              </a:rPr>
              <a:t>shared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250" spc="-3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space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is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step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toward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AI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that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reasons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about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250" spc="-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scene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250" spc="-3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way</a:t>
            </a:r>
            <a:r>
              <a:rPr dirty="0" sz="1250" spc="-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it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221A3C"/>
                </a:solidFill>
                <a:latin typeface="Calibri"/>
                <a:cs typeface="Calibri"/>
              </a:rPr>
              <a:t>looks,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sounds,</a:t>
            </a:r>
            <a:r>
              <a:rPr dirty="0" sz="1250" spc="-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is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221A3C"/>
                </a:solidFill>
                <a:latin typeface="Calibri"/>
                <a:cs typeface="Calibri"/>
              </a:rPr>
              <a:t>described,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and</a:t>
            </a:r>
            <a:r>
              <a:rPr dirty="0" sz="1250" spc="-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moves</a:t>
            </a:r>
            <a:r>
              <a:rPr dirty="0" sz="1250" spc="-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250" spc="-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21A3C"/>
                </a:solidFill>
                <a:latin typeface="Calibri"/>
                <a:cs typeface="Calibri"/>
              </a:rPr>
              <a:t>all</a:t>
            </a:r>
            <a:r>
              <a:rPr dirty="0" sz="1250" spc="-10" i="1">
                <a:solidFill>
                  <a:srgbClr val="221A3C"/>
                </a:solidFill>
                <a:latin typeface="Calibri"/>
                <a:cs typeface="Calibri"/>
              </a:rPr>
              <a:t> together.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40524" y="1691284"/>
            <a:ext cx="2332355" cy="686435"/>
          </a:xfrm>
          <a:custGeom>
            <a:avLst/>
            <a:gdLst/>
            <a:ahLst/>
            <a:cxnLst/>
            <a:rect l="l" t="t" r="r" b="b"/>
            <a:pathLst>
              <a:path w="2332354" h="68643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94715"/>
                </a:lnTo>
                <a:lnTo>
                  <a:pt x="798" y="606720"/>
                </a:lnTo>
                <a:lnTo>
                  <a:pt x="18830" y="650479"/>
                </a:lnTo>
                <a:lnTo>
                  <a:pt x="56505" y="679169"/>
                </a:lnTo>
                <a:lnTo>
                  <a:pt x="91440" y="686155"/>
                </a:lnTo>
                <a:lnTo>
                  <a:pt x="2240635" y="686155"/>
                </a:lnTo>
                <a:lnTo>
                  <a:pt x="2286355" y="673912"/>
                </a:lnTo>
                <a:lnTo>
                  <a:pt x="2319832" y="640435"/>
                </a:lnTo>
                <a:lnTo>
                  <a:pt x="2332075" y="594715"/>
                </a:lnTo>
                <a:lnTo>
                  <a:pt x="2332051" y="91439"/>
                </a:lnTo>
                <a:lnTo>
                  <a:pt x="2319832" y="46075"/>
                </a:lnTo>
                <a:lnTo>
                  <a:pt x="2286355" y="12598"/>
                </a:lnTo>
                <a:lnTo>
                  <a:pt x="224063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5A4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00696" y="1780819"/>
            <a:ext cx="78041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spc="-25">
                <a:solidFill>
                  <a:srgbClr val="ECE8F6"/>
                </a:solidFill>
                <a:latin typeface="Calibri"/>
                <a:cs typeface="Calibri"/>
              </a:rPr>
              <a:t>CIFAR-</a:t>
            </a:r>
            <a:r>
              <a:rPr dirty="0" sz="950">
                <a:solidFill>
                  <a:srgbClr val="ECE8F6"/>
                </a:solidFill>
                <a:latin typeface="Calibri"/>
                <a:cs typeface="Calibri"/>
              </a:rPr>
              <a:t>10</a:t>
            </a:r>
            <a:r>
              <a:rPr dirty="0" sz="950" spc="20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CE8F6"/>
                </a:solidFill>
                <a:latin typeface="Calibri"/>
                <a:cs typeface="Calibri"/>
              </a:rPr>
              <a:t>photo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40524" y="2026424"/>
            <a:ext cx="2340610" cy="1548130"/>
            <a:chOff x="7040524" y="2026424"/>
            <a:chExt cx="2340610" cy="1548130"/>
          </a:xfrm>
        </p:grpSpPr>
        <p:sp>
          <p:nvSpPr>
            <p:cNvPr id="12" name="object 12"/>
            <p:cNvSpPr/>
            <p:nvPr/>
          </p:nvSpPr>
          <p:spPr>
            <a:xfrm>
              <a:off x="9326880" y="2034362"/>
              <a:ext cx="45720" cy="1532255"/>
            </a:xfrm>
            <a:custGeom>
              <a:avLst/>
              <a:gdLst/>
              <a:ahLst/>
              <a:cxnLst/>
              <a:rect l="l" t="t" r="r" b="b"/>
              <a:pathLst>
                <a:path w="45720" h="1532254">
                  <a:moveTo>
                    <a:pt x="45720" y="0"/>
                  </a:moveTo>
                  <a:lnTo>
                    <a:pt x="0" y="1531797"/>
                  </a:lnTo>
                </a:path>
              </a:pathLst>
            </a:custGeom>
            <a:ln w="15839">
              <a:solidFill>
                <a:srgbClr val="C8C1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40524" y="2651404"/>
              <a:ext cx="2332355" cy="686435"/>
            </a:xfrm>
            <a:custGeom>
              <a:avLst/>
              <a:gdLst/>
              <a:ahLst/>
              <a:cxnLst/>
              <a:rect l="l" t="t" r="r" b="b"/>
              <a:pathLst>
                <a:path w="2332354" h="6864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594715"/>
                  </a:lnTo>
                  <a:lnTo>
                    <a:pt x="798" y="606720"/>
                  </a:lnTo>
                  <a:lnTo>
                    <a:pt x="18830" y="650479"/>
                  </a:lnTo>
                  <a:lnTo>
                    <a:pt x="56505" y="679169"/>
                  </a:lnTo>
                  <a:lnTo>
                    <a:pt x="91440" y="686155"/>
                  </a:lnTo>
                  <a:lnTo>
                    <a:pt x="2240635" y="686155"/>
                  </a:lnTo>
                  <a:lnTo>
                    <a:pt x="2286355" y="673912"/>
                  </a:lnTo>
                  <a:lnTo>
                    <a:pt x="2319832" y="640435"/>
                  </a:lnTo>
                  <a:lnTo>
                    <a:pt x="2332075" y="594715"/>
                  </a:lnTo>
                  <a:lnTo>
                    <a:pt x="2332051" y="91439"/>
                  </a:lnTo>
                  <a:lnTo>
                    <a:pt x="2319832" y="46075"/>
                  </a:lnTo>
                  <a:lnTo>
                    <a:pt x="2286355" y="12598"/>
                  </a:lnTo>
                  <a:lnTo>
                    <a:pt x="22406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300696" y="2740939"/>
            <a:ext cx="111696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spc="-10">
                <a:solidFill>
                  <a:srgbClr val="ECE8F6"/>
                </a:solidFill>
                <a:latin typeface="Calibri"/>
                <a:cs typeface="Calibri"/>
              </a:rPr>
              <a:t>Synthetic</a:t>
            </a:r>
            <a:r>
              <a:rPr dirty="0" sz="950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CE8F6"/>
                </a:solidFill>
                <a:latin typeface="Calibri"/>
                <a:cs typeface="Calibri"/>
              </a:rPr>
              <a:t>spectrogram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40524" y="2986544"/>
            <a:ext cx="2340610" cy="1311275"/>
            <a:chOff x="7040524" y="2986544"/>
            <a:chExt cx="2340610" cy="1311275"/>
          </a:xfrm>
        </p:grpSpPr>
        <p:sp>
          <p:nvSpPr>
            <p:cNvPr id="16" name="object 16"/>
            <p:cNvSpPr/>
            <p:nvPr/>
          </p:nvSpPr>
          <p:spPr>
            <a:xfrm>
              <a:off x="9326880" y="2994482"/>
              <a:ext cx="45720" cy="572135"/>
            </a:xfrm>
            <a:custGeom>
              <a:avLst/>
              <a:gdLst/>
              <a:ahLst/>
              <a:cxnLst/>
              <a:rect l="l" t="t" r="r" b="b"/>
              <a:pathLst>
                <a:path w="45720" h="572135">
                  <a:moveTo>
                    <a:pt x="45720" y="0"/>
                  </a:moveTo>
                  <a:lnTo>
                    <a:pt x="0" y="571677"/>
                  </a:lnTo>
                </a:path>
              </a:pathLst>
            </a:custGeom>
            <a:ln w="15839">
              <a:solidFill>
                <a:srgbClr val="C8C1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40524" y="3611524"/>
              <a:ext cx="2332355" cy="686435"/>
            </a:xfrm>
            <a:custGeom>
              <a:avLst/>
              <a:gdLst/>
              <a:ahLst/>
              <a:cxnLst/>
              <a:rect l="l" t="t" r="r" b="b"/>
              <a:pathLst>
                <a:path w="2332354" h="6864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594715"/>
                  </a:lnTo>
                  <a:lnTo>
                    <a:pt x="798" y="606720"/>
                  </a:lnTo>
                  <a:lnTo>
                    <a:pt x="18830" y="650479"/>
                  </a:lnTo>
                  <a:lnTo>
                    <a:pt x="56505" y="679169"/>
                  </a:lnTo>
                  <a:lnTo>
                    <a:pt x="91440" y="686155"/>
                  </a:lnTo>
                  <a:lnTo>
                    <a:pt x="2240635" y="686155"/>
                  </a:lnTo>
                  <a:lnTo>
                    <a:pt x="2286355" y="673912"/>
                  </a:lnTo>
                  <a:lnTo>
                    <a:pt x="2319832" y="640435"/>
                  </a:lnTo>
                  <a:lnTo>
                    <a:pt x="2332075" y="594715"/>
                  </a:lnTo>
                  <a:lnTo>
                    <a:pt x="2332051" y="91439"/>
                  </a:lnTo>
                  <a:lnTo>
                    <a:pt x="2319832" y="46075"/>
                  </a:lnTo>
                  <a:lnTo>
                    <a:pt x="2286355" y="12598"/>
                  </a:lnTo>
                  <a:lnTo>
                    <a:pt x="22406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DF79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300696" y="3701059"/>
            <a:ext cx="75247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spc="-10">
                <a:solidFill>
                  <a:srgbClr val="ECE8F6"/>
                </a:solidFill>
                <a:latin typeface="Calibri"/>
                <a:cs typeface="Calibri"/>
              </a:rPr>
              <a:t>Caption</a:t>
            </a:r>
            <a:r>
              <a:rPr dirty="0" sz="950" spc="5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CE8F6"/>
                </a:solidFill>
                <a:latin typeface="Calibri"/>
                <a:cs typeface="Calibri"/>
              </a:rPr>
              <a:t>tokens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40524" y="3558222"/>
            <a:ext cx="2340610" cy="1699895"/>
            <a:chOff x="7040524" y="3558222"/>
            <a:chExt cx="2340610" cy="1699895"/>
          </a:xfrm>
        </p:grpSpPr>
        <p:sp>
          <p:nvSpPr>
            <p:cNvPr id="20" name="object 20"/>
            <p:cNvSpPr/>
            <p:nvPr/>
          </p:nvSpPr>
          <p:spPr>
            <a:xfrm>
              <a:off x="9326880" y="3566159"/>
              <a:ext cx="45720" cy="388620"/>
            </a:xfrm>
            <a:custGeom>
              <a:avLst/>
              <a:gdLst/>
              <a:ahLst/>
              <a:cxnLst/>
              <a:rect l="l" t="t" r="r" b="b"/>
              <a:pathLst>
                <a:path w="45720" h="388620">
                  <a:moveTo>
                    <a:pt x="45720" y="388442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8C1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040524" y="4571644"/>
              <a:ext cx="2332355" cy="686435"/>
            </a:xfrm>
            <a:custGeom>
              <a:avLst/>
              <a:gdLst/>
              <a:ahLst/>
              <a:cxnLst/>
              <a:rect l="l" t="t" r="r" b="b"/>
              <a:pathLst>
                <a:path w="2332354" h="6864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594715"/>
                  </a:lnTo>
                  <a:lnTo>
                    <a:pt x="798" y="606720"/>
                  </a:lnTo>
                  <a:lnTo>
                    <a:pt x="18830" y="650479"/>
                  </a:lnTo>
                  <a:lnTo>
                    <a:pt x="56505" y="679169"/>
                  </a:lnTo>
                  <a:lnTo>
                    <a:pt x="91440" y="686155"/>
                  </a:lnTo>
                  <a:lnTo>
                    <a:pt x="2240635" y="686155"/>
                  </a:lnTo>
                  <a:lnTo>
                    <a:pt x="2286355" y="673912"/>
                  </a:lnTo>
                  <a:lnTo>
                    <a:pt x="2319832" y="640435"/>
                  </a:lnTo>
                  <a:lnTo>
                    <a:pt x="2332075" y="594715"/>
                  </a:lnTo>
                  <a:lnTo>
                    <a:pt x="2332051" y="91440"/>
                  </a:lnTo>
                  <a:lnTo>
                    <a:pt x="2319832" y="46075"/>
                  </a:lnTo>
                  <a:lnTo>
                    <a:pt x="2286355" y="12598"/>
                  </a:lnTo>
                  <a:lnTo>
                    <a:pt x="22406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3C59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300696" y="4661179"/>
            <a:ext cx="77089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>
                <a:solidFill>
                  <a:srgbClr val="ECE8F6"/>
                </a:solidFill>
                <a:latin typeface="Calibri"/>
                <a:cs typeface="Calibri"/>
              </a:rPr>
              <a:t>Pan</a:t>
            </a:r>
            <a:r>
              <a:rPr dirty="0" sz="950" spc="-30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CE8F6"/>
                </a:solidFill>
                <a:latin typeface="Calibri"/>
                <a:cs typeface="Calibri"/>
              </a:rPr>
              <a:t>/</a:t>
            </a:r>
            <a:r>
              <a:rPr dirty="0" sz="950" spc="-40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CE8F6"/>
                </a:solidFill>
                <a:latin typeface="Calibri"/>
                <a:cs typeface="Calibri"/>
              </a:rPr>
              <a:t>zoom</a:t>
            </a:r>
            <a:r>
              <a:rPr dirty="0" sz="950" spc="-30">
                <a:solidFill>
                  <a:srgbClr val="ECE8F6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CE8F6"/>
                </a:solidFill>
                <a:latin typeface="Calibri"/>
                <a:cs typeface="Calibri"/>
              </a:rPr>
              <a:t>clip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313744" y="2501464"/>
            <a:ext cx="2129155" cy="2421255"/>
            <a:chOff x="9313744" y="2501464"/>
            <a:chExt cx="2129155" cy="2421255"/>
          </a:xfrm>
        </p:grpSpPr>
        <p:sp>
          <p:nvSpPr>
            <p:cNvPr id="24" name="object 24"/>
            <p:cNvSpPr/>
            <p:nvPr/>
          </p:nvSpPr>
          <p:spPr>
            <a:xfrm>
              <a:off x="9326880" y="3566159"/>
              <a:ext cx="45720" cy="1348740"/>
            </a:xfrm>
            <a:custGeom>
              <a:avLst/>
              <a:gdLst/>
              <a:ahLst/>
              <a:cxnLst/>
              <a:rect l="l" t="t" r="r" b="b"/>
              <a:pathLst>
                <a:path w="45720" h="1348739">
                  <a:moveTo>
                    <a:pt x="45720" y="1348562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8C1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326524" y="2514244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1051560" y="0"/>
                  </a:moveTo>
                  <a:lnTo>
                    <a:pt x="1001294" y="1200"/>
                  </a:lnTo>
                  <a:lnTo>
                    <a:pt x="951287" y="4788"/>
                  </a:lnTo>
                  <a:lnTo>
                    <a:pt x="901617" y="10740"/>
                  </a:lnTo>
                  <a:lnTo>
                    <a:pt x="852365" y="19034"/>
                  </a:lnTo>
                  <a:lnTo>
                    <a:pt x="803610" y="29646"/>
                  </a:lnTo>
                  <a:lnTo>
                    <a:pt x="755430" y="42555"/>
                  </a:lnTo>
                  <a:lnTo>
                    <a:pt x="707907" y="57738"/>
                  </a:lnTo>
                  <a:lnTo>
                    <a:pt x="661118" y="75172"/>
                  </a:lnTo>
                  <a:lnTo>
                    <a:pt x="615144" y="94834"/>
                  </a:lnTo>
                  <a:lnTo>
                    <a:pt x="570064" y="116702"/>
                  </a:lnTo>
                  <a:lnTo>
                    <a:pt x="525957" y="140754"/>
                  </a:lnTo>
                  <a:lnTo>
                    <a:pt x="482963" y="166968"/>
                  </a:lnTo>
                  <a:lnTo>
                    <a:pt x="441399" y="195109"/>
                  </a:lnTo>
                  <a:lnTo>
                    <a:pt x="401319" y="225121"/>
                  </a:lnTo>
                  <a:lnTo>
                    <a:pt x="362778" y="256949"/>
                  </a:lnTo>
                  <a:lnTo>
                    <a:pt x="325833" y="290538"/>
                  </a:lnTo>
                  <a:lnTo>
                    <a:pt x="290538" y="325833"/>
                  </a:lnTo>
                  <a:lnTo>
                    <a:pt x="256949" y="362778"/>
                  </a:lnTo>
                  <a:lnTo>
                    <a:pt x="225238" y="401177"/>
                  </a:lnTo>
                  <a:lnTo>
                    <a:pt x="195109" y="441399"/>
                  </a:lnTo>
                  <a:lnTo>
                    <a:pt x="166968" y="482963"/>
                  </a:lnTo>
                  <a:lnTo>
                    <a:pt x="140754" y="525957"/>
                  </a:lnTo>
                  <a:lnTo>
                    <a:pt x="116702" y="570064"/>
                  </a:lnTo>
                  <a:lnTo>
                    <a:pt x="94932" y="614942"/>
                  </a:lnTo>
                  <a:lnTo>
                    <a:pt x="75232" y="660976"/>
                  </a:lnTo>
                  <a:lnTo>
                    <a:pt x="57738" y="707907"/>
                  </a:lnTo>
                  <a:lnTo>
                    <a:pt x="42555" y="755430"/>
                  </a:lnTo>
                  <a:lnTo>
                    <a:pt x="29646" y="803610"/>
                  </a:lnTo>
                  <a:lnTo>
                    <a:pt x="19034" y="852365"/>
                  </a:lnTo>
                  <a:lnTo>
                    <a:pt x="10740" y="901617"/>
                  </a:lnTo>
                  <a:lnTo>
                    <a:pt x="4788" y="951287"/>
                  </a:lnTo>
                  <a:lnTo>
                    <a:pt x="1200" y="1001294"/>
                  </a:lnTo>
                  <a:lnTo>
                    <a:pt x="0" y="1051560"/>
                  </a:lnTo>
                  <a:lnTo>
                    <a:pt x="1200" y="1101822"/>
                  </a:lnTo>
                  <a:lnTo>
                    <a:pt x="4788" y="1151830"/>
                  </a:lnTo>
                  <a:lnTo>
                    <a:pt x="10740" y="1201503"/>
                  </a:lnTo>
                  <a:lnTo>
                    <a:pt x="19034" y="1250765"/>
                  </a:lnTo>
                  <a:lnTo>
                    <a:pt x="29646" y="1299538"/>
                  </a:lnTo>
                  <a:lnTo>
                    <a:pt x="42555" y="1347742"/>
                  </a:lnTo>
                  <a:lnTo>
                    <a:pt x="57738" y="1395301"/>
                  </a:lnTo>
                  <a:lnTo>
                    <a:pt x="75172" y="1442136"/>
                  </a:lnTo>
                  <a:lnTo>
                    <a:pt x="94834" y="1488169"/>
                  </a:lnTo>
                  <a:lnTo>
                    <a:pt x="116702" y="1533322"/>
                  </a:lnTo>
                  <a:lnTo>
                    <a:pt x="140754" y="1577517"/>
                  </a:lnTo>
                  <a:lnTo>
                    <a:pt x="166968" y="1620423"/>
                  </a:lnTo>
                  <a:lnTo>
                    <a:pt x="195109" y="1661914"/>
                  </a:lnTo>
                  <a:lnTo>
                    <a:pt x="225121" y="1701935"/>
                  </a:lnTo>
                  <a:lnTo>
                    <a:pt x="256949" y="1740429"/>
                  </a:lnTo>
                  <a:lnTo>
                    <a:pt x="290538" y="1777338"/>
                  </a:lnTo>
                  <a:lnTo>
                    <a:pt x="325833" y="1812607"/>
                  </a:lnTo>
                  <a:lnTo>
                    <a:pt x="362778" y="1846178"/>
                  </a:lnTo>
                  <a:lnTo>
                    <a:pt x="401319" y="1877995"/>
                  </a:lnTo>
                  <a:lnTo>
                    <a:pt x="441399" y="1908001"/>
                  </a:lnTo>
                  <a:lnTo>
                    <a:pt x="482963" y="1936139"/>
                  </a:lnTo>
                  <a:lnTo>
                    <a:pt x="525957" y="1962353"/>
                  </a:lnTo>
                  <a:lnTo>
                    <a:pt x="570064" y="1986404"/>
                  </a:lnTo>
                  <a:lnTo>
                    <a:pt x="615144" y="2008274"/>
                  </a:lnTo>
                  <a:lnTo>
                    <a:pt x="661118" y="2027937"/>
                  </a:lnTo>
                  <a:lnTo>
                    <a:pt x="707907" y="2045372"/>
                  </a:lnTo>
                  <a:lnTo>
                    <a:pt x="755430" y="2060557"/>
                  </a:lnTo>
                  <a:lnTo>
                    <a:pt x="803610" y="2073467"/>
                  </a:lnTo>
                  <a:lnTo>
                    <a:pt x="852365" y="2084081"/>
                  </a:lnTo>
                  <a:lnTo>
                    <a:pt x="901617" y="2092377"/>
                  </a:lnTo>
                  <a:lnTo>
                    <a:pt x="951287" y="2098330"/>
                  </a:lnTo>
                  <a:lnTo>
                    <a:pt x="1001294" y="2101918"/>
                  </a:lnTo>
                  <a:lnTo>
                    <a:pt x="1051560" y="2103120"/>
                  </a:lnTo>
                  <a:lnTo>
                    <a:pt x="1101822" y="2101918"/>
                  </a:lnTo>
                  <a:lnTo>
                    <a:pt x="1151830" y="2098330"/>
                  </a:lnTo>
                  <a:lnTo>
                    <a:pt x="1201503" y="2092377"/>
                  </a:lnTo>
                  <a:lnTo>
                    <a:pt x="1250765" y="2084081"/>
                  </a:lnTo>
                  <a:lnTo>
                    <a:pt x="1299538" y="2073467"/>
                  </a:lnTo>
                  <a:lnTo>
                    <a:pt x="1347742" y="2060557"/>
                  </a:lnTo>
                  <a:lnTo>
                    <a:pt x="1395301" y="2045372"/>
                  </a:lnTo>
                  <a:lnTo>
                    <a:pt x="1442136" y="2027937"/>
                  </a:lnTo>
                  <a:lnTo>
                    <a:pt x="1488169" y="2008274"/>
                  </a:lnTo>
                  <a:lnTo>
                    <a:pt x="1533322" y="1986404"/>
                  </a:lnTo>
                  <a:lnTo>
                    <a:pt x="1577517" y="1962353"/>
                  </a:lnTo>
                  <a:lnTo>
                    <a:pt x="1620423" y="1936139"/>
                  </a:lnTo>
                  <a:lnTo>
                    <a:pt x="1661914" y="1908001"/>
                  </a:lnTo>
                  <a:lnTo>
                    <a:pt x="1701935" y="1877995"/>
                  </a:lnTo>
                  <a:lnTo>
                    <a:pt x="1740429" y="1846178"/>
                  </a:lnTo>
                  <a:lnTo>
                    <a:pt x="1777338" y="1812607"/>
                  </a:lnTo>
                  <a:lnTo>
                    <a:pt x="1812607" y="1777338"/>
                  </a:lnTo>
                  <a:lnTo>
                    <a:pt x="1846178" y="1740429"/>
                  </a:lnTo>
                  <a:lnTo>
                    <a:pt x="1877995" y="1701935"/>
                  </a:lnTo>
                  <a:lnTo>
                    <a:pt x="1908001" y="1661914"/>
                  </a:lnTo>
                  <a:lnTo>
                    <a:pt x="1936139" y="1620423"/>
                  </a:lnTo>
                  <a:lnTo>
                    <a:pt x="1962353" y="1577517"/>
                  </a:lnTo>
                  <a:lnTo>
                    <a:pt x="1986404" y="1533322"/>
                  </a:lnTo>
                  <a:lnTo>
                    <a:pt x="2008274" y="1488169"/>
                  </a:lnTo>
                  <a:lnTo>
                    <a:pt x="2027937" y="1442136"/>
                  </a:lnTo>
                  <a:lnTo>
                    <a:pt x="2045372" y="1395301"/>
                  </a:lnTo>
                  <a:lnTo>
                    <a:pt x="2060557" y="1347742"/>
                  </a:lnTo>
                  <a:lnTo>
                    <a:pt x="2073467" y="1299538"/>
                  </a:lnTo>
                  <a:lnTo>
                    <a:pt x="2084081" y="1250765"/>
                  </a:lnTo>
                  <a:lnTo>
                    <a:pt x="2092377" y="1201503"/>
                  </a:lnTo>
                  <a:lnTo>
                    <a:pt x="2098330" y="1151830"/>
                  </a:lnTo>
                  <a:lnTo>
                    <a:pt x="2101918" y="1101822"/>
                  </a:lnTo>
                  <a:lnTo>
                    <a:pt x="2103120" y="1051560"/>
                  </a:lnTo>
                  <a:lnTo>
                    <a:pt x="2101918" y="1001294"/>
                  </a:lnTo>
                  <a:lnTo>
                    <a:pt x="2098330" y="951287"/>
                  </a:lnTo>
                  <a:lnTo>
                    <a:pt x="2092377" y="901617"/>
                  </a:lnTo>
                  <a:lnTo>
                    <a:pt x="2084084" y="852365"/>
                  </a:lnTo>
                  <a:lnTo>
                    <a:pt x="2073475" y="803610"/>
                  </a:lnTo>
                  <a:lnTo>
                    <a:pt x="2060573" y="755430"/>
                  </a:lnTo>
                  <a:lnTo>
                    <a:pt x="2045403" y="707907"/>
                  </a:lnTo>
                  <a:lnTo>
                    <a:pt x="2027990" y="661118"/>
                  </a:lnTo>
                  <a:lnTo>
                    <a:pt x="2008360" y="615144"/>
                  </a:lnTo>
                  <a:lnTo>
                    <a:pt x="1986404" y="569787"/>
                  </a:lnTo>
                  <a:lnTo>
                    <a:pt x="1962353" y="525589"/>
                  </a:lnTo>
                  <a:lnTo>
                    <a:pt x="1936139" y="482687"/>
                  </a:lnTo>
                  <a:lnTo>
                    <a:pt x="1908001" y="441197"/>
                  </a:lnTo>
                  <a:lnTo>
                    <a:pt x="1878101" y="401319"/>
                  </a:lnTo>
                  <a:lnTo>
                    <a:pt x="1846256" y="362778"/>
                  </a:lnTo>
                  <a:lnTo>
                    <a:pt x="1812661" y="325833"/>
                  </a:lnTo>
                  <a:lnTo>
                    <a:pt x="1777373" y="290538"/>
                  </a:lnTo>
                  <a:lnTo>
                    <a:pt x="1740448" y="256949"/>
                  </a:lnTo>
                  <a:lnTo>
                    <a:pt x="1701944" y="225121"/>
                  </a:lnTo>
                  <a:lnTo>
                    <a:pt x="1661917" y="195109"/>
                  </a:lnTo>
                  <a:lnTo>
                    <a:pt x="1620423" y="166968"/>
                  </a:lnTo>
                  <a:lnTo>
                    <a:pt x="1577517" y="140754"/>
                  </a:lnTo>
                  <a:lnTo>
                    <a:pt x="1533322" y="116702"/>
                  </a:lnTo>
                  <a:lnTo>
                    <a:pt x="1488169" y="94834"/>
                  </a:lnTo>
                  <a:lnTo>
                    <a:pt x="1442136" y="75172"/>
                  </a:lnTo>
                  <a:lnTo>
                    <a:pt x="1395301" y="57738"/>
                  </a:lnTo>
                  <a:lnTo>
                    <a:pt x="1347742" y="42555"/>
                  </a:lnTo>
                  <a:lnTo>
                    <a:pt x="1299538" y="29646"/>
                  </a:lnTo>
                  <a:lnTo>
                    <a:pt x="1250765" y="19034"/>
                  </a:lnTo>
                  <a:lnTo>
                    <a:pt x="1201503" y="10740"/>
                  </a:lnTo>
                  <a:lnTo>
                    <a:pt x="1151830" y="4788"/>
                  </a:lnTo>
                  <a:lnTo>
                    <a:pt x="1101822" y="1200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1A0F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326524" y="2514244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lnTo>
                    <a:pt x="1200" y="1001294"/>
                  </a:lnTo>
                  <a:lnTo>
                    <a:pt x="4788" y="951287"/>
                  </a:lnTo>
                  <a:lnTo>
                    <a:pt x="10740" y="901617"/>
                  </a:lnTo>
                  <a:lnTo>
                    <a:pt x="19034" y="852365"/>
                  </a:lnTo>
                  <a:lnTo>
                    <a:pt x="29646" y="803610"/>
                  </a:lnTo>
                  <a:lnTo>
                    <a:pt x="42555" y="755430"/>
                  </a:lnTo>
                  <a:lnTo>
                    <a:pt x="57738" y="707907"/>
                  </a:lnTo>
                  <a:lnTo>
                    <a:pt x="75172" y="661118"/>
                  </a:lnTo>
                  <a:lnTo>
                    <a:pt x="94834" y="615144"/>
                  </a:lnTo>
                  <a:lnTo>
                    <a:pt x="116702" y="570064"/>
                  </a:lnTo>
                  <a:lnTo>
                    <a:pt x="140754" y="525957"/>
                  </a:lnTo>
                  <a:lnTo>
                    <a:pt x="166968" y="482963"/>
                  </a:lnTo>
                  <a:lnTo>
                    <a:pt x="195109" y="441399"/>
                  </a:lnTo>
                  <a:lnTo>
                    <a:pt x="225121" y="401319"/>
                  </a:lnTo>
                  <a:lnTo>
                    <a:pt x="256949" y="362778"/>
                  </a:lnTo>
                  <a:lnTo>
                    <a:pt x="290538" y="325833"/>
                  </a:lnTo>
                  <a:lnTo>
                    <a:pt x="325833" y="290538"/>
                  </a:lnTo>
                  <a:lnTo>
                    <a:pt x="362778" y="256949"/>
                  </a:lnTo>
                  <a:lnTo>
                    <a:pt x="401319" y="225121"/>
                  </a:lnTo>
                  <a:lnTo>
                    <a:pt x="441399" y="195109"/>
                  </a:lnTo>
                  <a:lnTo>
                    <a:pt x="482963" y="166968"/>
                  </a:lnTo>
                  <a:lnTo>
                    <a:pt x="525957" y="140754"/>
                  </a:lnTo>
                  <a:lnTo>
                    <a:pt x="570064" y="116702"/>
                  </a:lnTo>
                  <a:lnTo>
                    <a:pt x="615144" y="94834"/>
                  </a:lnTo>
                  <a:lnTo>
                    <a:pt x="661118" y="75172"/>
                  </a:lnTo>
                  <a:lnTo>
                    <a:pt x="707907" y="57738"/>
                  </a:lnTo>
                  <a:lnTo>
                    <a:pt x="755430" y="42555"/>
                  </a:lnTo>
                  <a:lnTo>
                    <a:pt x="803610" y="29646"/>
                  </a:lnTo>
                  <a:lnTo>
                    <a:pt x="852365" y="19034"/>
                  </a:lnTo>
                  <a:lnTo>
                    <a:pt x="901617" y="10740"/>
                  </a:lnTo>
                  <a:lnTo>
                    <a:pt x="951287" y="4788"/>
                  </a:lnTo>
                  <a:lnTo>
                    <a:pt x="1001294" y="1200"/>
                  </a:lnTo>
                  <a:lnTo>
                    <a:pt x="1051560" y="0"/>
                  </a:lnTo>
                  <a:lnTo>
                    <a:pt x="1101822" y="1200"/>
                  </a:lnTo>
                  <a:lnTo>
                    <a:pt x="1151830" y="4788"/>
                  </a:lnTo>
                  <a:lnTo>
                    <a:pt x="1201503" y="10740"/>
                  </a:lnTo>
                  <a:lnTo>
                    <a:pt x="1250765" y="19034"/>
                  </a:lnTo>
                  <a:lnTo>
                    <a:pt x="1299538" y="29646"/>
                  </a:lnTo>
                  <a:lnTo>
                    <a:pt x="1347742" y="42555"/>
                  </a:lnTo>
                  <a:lnTo>
                    <a:pt x="1395301" y="57738"/>
                  </a:lnTo>
                  <a:lnTo>
                    <a:pt x="1442136" y="75172"/>
                  </a:lnTo>
                  <a:lnTo>
                    <a:pt x="1488169" y="94834"/>
                  </a:lnTo>
                  <a:lnTo>
                    <a:pt x="1533322" y="116702"/>
                  </a:lnTo>
                  <a:lnTo>
                    <a:pt x="1577517" y="140754"/>
                  </a:lnTo>
                  <a:lnTo>
                    <a:pt x="1620423" y="166968"/>
                  </a:lnTo>
                  <a:lnTo>
                    <a:pt x="1661914" y="195107"/>
                  </a:lnTo>
                  <a:lnTo>
                    <a:pt x="1701935" y="225114"/>
                  </a:lnTo>
                  <a:lnTo>
                    <a:pt x="1740429" y="256932"/>
                  </a:lnTo>
                  <a:lnTo>
                    <a:pt x="1777338" y="290504"/>
                  </a:lnTo>
                  <a:lnTo>
                    <a:pt x="1812607" y="325773"/>
                  </a:lnTo>
                  <a:lnTo>
                    <a:pt x="1846178" y="362683"/>
                  </a:lnTo>
                  <a:lnTo>
                    <a:pt x="1877995" y="401177"/>
                  </a:lnTo>
                  <a:lnTo>
                    <a:pt x="1908001" y="441197"/>
                  </a:lnTo>
                  <a:lnTo>
                    <a:pt x="1936139" y="482687"/>
                  </a:lnTo>
                  <a:lnTo>
                    <a:pt x="1962353" y="525589"/>
                  </a:lnTo>
                  <a:lnTo>
                    <a:pt x="1986404" y="569787"/>
                  </a:lnTo>
                  <a:lnTo>
                    <a:pt x="2008274" y="614942"/>
                  </a:lnTo>
                  <a:lnTo>
                    <a:pt x="2027937" y="660976"/>
                  </a:lnTo>
                  <a:lnTo>
                    <a:pt x="2045372" y="707812"/>
                  </a:lnTo>
                  <a:lnTo>
                    <a:pt x="2060557" y="755371"/>
                  </a:lnTo>
                  <a:lnTo>
                    <a:pt x="2073467" y="803575"/>
                  </a:lnTo>
                  <a:lnTo>
                    <a:pt x="2084081" y="852347"/>
                  </a:lnTo>
                  <a:lnTo>
                    <a:pt x="2092377" y="901610"/>
                  </a:lnTo>
                  <a:lnTo>
                    <a:pt x="2098330" y="951285"/>
                  </a:lnTo>
                  <a:lnTo>
                    <a:pt x="2101918" y="1001294"/>
                  </a:lnTo>
                  <a:lnTo>
                    <a:pt x="2103120" y="1051560"/>
                  </a:lnTo>
                  <a:lnTo>
                    <a:pt x="2101918" y="1101822"/>
                  </a:lnTo>
                  <a:lnTo>
                    <a:pt x="2098330" y="1151830"/>
                  </a:lnTo>
                  <a:lnTo>
                    <a:pt x="2092377" y="1201503"/>
                  </a:lnTo>
                  <a:lnTo>
                    <a:pt x="2084081" y="1250765"/>
                  </a:lnTo>
                  <a:lnTo>
                    <a:pt x="2073467" y="1299538"/>
                  </a:lnTo>
                  <a:lnTo>
                    <a:pt x="2060557" y="1347742"/>
                  </a:lnTo>
                  <a:lnTo>
                    <a:pt x="2045372" y="1395301"/>
                  </a:lnTo>
                  <a:lnTo>
                    <a:pt x="2027937" y="1442136"/>
                  </a:lnTo>
                  <a:lnTo>
                    <a:pt x="2008274" y="1488169"/>
                  </a:lnTo>
                  <a:lnTo>
                    <a:pt x="1986404" y="1533322"/>
                  </a:lnTo>
                  <a:lnTo>
                    <a:pt x="1962353" y="1577517"/>
                  </a:lnTo>
                  <a:lnTo>
                    <a:pt x="1936139" y="1620423"/>
                  </a:lnTo>
                  <a:lnTo>
                    <a:pt x="1908001" y="1661914"/>
                  </a:lnTo>
                  <a:lnTo>
                    <a:pt x="1877995" y="1701935"/>
                  </a:lnTo>
                  <a:lnTo>
                    <a:pt x="1846178" y="1740429"/>
                  </a:lnTo>
                  <a:lnTo>
                    <a:pt x="1812607" y="1777338"/>
                  </a:lnTo>
                  <a:lnTo>
                    <a:pt x="1777338" y="1812607"/>
                  </a:lnTo>
                  <a:lnTo>
                    <a:pt x="1740429" y="1846178"/>
                  </a:lnTo>
                  <a:lnTo>
                    <a:pt x="1701935" y="1877995"/>
                  </a:lnTo>
                  <a:lnTo>
                    <a:pt x="1661914" y="1908001"/>
                  </a:lnTo>
                  <a:lnTo>
                    <a:pt x="1620423" y="1936139"/>
                  </a:lnTo>
                  <a:lnTo>
                    <a:pt x="1577517" y="1962353"/>
                  </a:lnTo>
                  <a:lnTo>
                    <a:pt x="1533322" y="1986404"/>
                  </a:lnTo>
                  <a:lnTo>
                    <a:pt x="1488169" y="2008274"/>
                  </a:lnTo>
                  <a:lnTo>
                    <a:pt x="1442136" y="2027937"/>
                  </a:lnTo>
                  <a:lnTo>
                    <a:pt x="1395301" y="2045372"/>
                  </a:lnTo>
                  <a:lnTo>
                    <a:pt x="1347742" y="2060557"/>
                  </a:lnTo>
                  <a:lnTo>
                    <a:pt x="1299538" y="2073467"/>
                  </a:lnTo>
                  <a:lnTo>
                    <a:pt x="1250765" y="2084081"/>
                  </a:lnTo>
                  <a:lnTo>
                    <a:pt x="1201503" y="2092377"/>
                  </a:lnTo>
                  <a:lnTo>
                    <a:pt x="1151830" y="2098330"/>
                  </a:lnTo>
                  <a:lnTo>
                    <a:pt x="1101822" y="2101918"/>
                  </a:lnTo>
                  <a:lnTo>
                    <a:pt x="1051560" y="2103120"/>
                  </a:lnTo>
                  <a:lnTo>
                    <a:pt x="1001294" y="2101918"/>
                  </a:lnTo>
                  <a:lnTo>
                    <a:pt x="951287" y="2098330"/>
                  </a:lnTo>
                  <a:lnTo>
                    <a:pt x="901617" y="2092377"/>
                  </a:lnTo>
                  <a:lnTo>
                    <a:pt x="852365" y="2084081"/>
                  </a:lnTo>
                  <a:lnTo>
                    <a:pt x="803610" y="2073467"/>
                  </a:lnTo>
                  <a:lnTo>
                    <a:pt x="755430" y="2060557"/>
                  </a:lnTo>
                  <a:lnTo>
                    <a:pt x="707907" y="2045372"/>
                  </a:lnTo>
                  <a:lnTo>
                    <a:pt x="661118" y="2027937"/>
                  </a:lnTo>
                  <a:lnTo>
                    <a:pt x="615144" y="2008274"/>
                  </a:lnTo>
                  <a:lnTo>
                    <a:pt x="570064" y="1986404"/>
                  </a:lnTo>
                  <a:lnTo>
                    <a:pt x="525957" y="1962353"/>
                  </a:lnTo>
                  <a:lnTo>
                    <a:pt x="482963" y="1936139"/>
                  </a:lnTo>
                  <a:lnTo>
                    <a:pt x="441399" y="1908001"/>
                  </a:lnTo>
                  <a:lnTo>
                    <a:pt x="401319" y="1877995"/>
                  </a:lnTo>
                  <a:lnTo>
                    <a:pt x="362778" y="1846178"/>
                  </a:lnTo>
                  <a:lnTo>
                    <a:pt x="325833" y="1812607"/>
                  </a:lnTo>
                  <a:lnTo>
                    <a:pt x="290538" y="1777338"/>
                  </a:lnTo>
                  <a:lnTo>
                    <a:pt x="256949" y="1740429"/>
                  </a:lnTo>
                  <a:lnTo>
                    <a:pt x="225121" y="1701935"/>
                  </a:lnTo>
                  <a:lnTo>
                    <a:pt x="195109" y="1661914"/>
                  </a:lnTo>
                  <a:lnTo>
                    <a:pt x="166968" y="1620423"/>
                  </a:lnTo>
                  <a:lnTo>
                    <a:pt x="140754" y="1577517"/>
                  </a:lnTo>
                  <a:lnTo>
                    <a:pt x="116702" y="1533322"/>
                  </a:lnTo>
                  <a:lnTo>
                    <a:pt x="94834" y="1488169"/>
                  </a:lnTo>
                  <a:lnTo>
                    <a:pt x="75172" y="1442136"/>
                  </a:lnTo>
                  <a:lnTo>
                    <a:pt x="57738" y="1395301"/>
                  </a:lnTo>
                  <a:lnTo>
                    <a:pt x="42555" y="1347742"/>
                  </a:lnTo>
                  <a:lnTo>
                    <a:pt x="29646" y="1299538"/>
                  </a:lnTo>
                  <a:lnTo>
                    <a:pt x="19034" y="1250765"/>
                  </a:lnTo>
                  <a:lnTo>
                    <a:pt x="10740" y="1201503"/>
                  </a:lnTo>
                  <a:lnTo>
                    <a:pt x="4788" y="1151830"/>
                  </a:lnTo>
                  <a:lnTo>
                    <a:pt x="1200" y="1101822"/>
                  </a:lnTo>
                  <a:lnTo>
                    <a:pt x="0" y="1051560"/>
                  </a:lnTo>
                  <a:close/>
                </a:path>
              </a:pathLst>
            </a:custGeom>
            <a:ln w="25559">
              <a:solidFill>
                <a:srgbClr val="00E4C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0096817" y="3267252"/>
            <a:ext cx="5626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6195" marR="5080" indent="-2413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SHARED LATENT SPACE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386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2</a:t>
            </a:r>
            <a:r>
              <a:rPr dirty="0" sz="12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B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J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C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-6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V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 spc="150"/>
              <a:t>we</a:t>
            </a:r>
            <a:r>
              <a:rPr dirty="0" spc="-80"/>
              <a:t> </a:t>
            </a:r>
            <a:r>
              <a:rPr dirty="0" spc="150"/>
              <a:t>set</a:t>
            </a:r>
            <a:r>
              <a:rPr dirty="0" spc="-80"/>
              <a:t> </a:t>
            </a:r>
            <a:r>
              <a:rPr dirty="0" spc="114"/>
              <a:t>out</a:t>
            </a:r>
            <a:r>
              <a:rPr dirty="0" spc="-80"/>
              <a:t> </a:t>
            </a:r>
            <a:r>
              <a:rPr dirty="0" spc="75"/>
              <a:t>to</a:t>
            </a:r>
            <a:r>
              <a:rPr dirty="0" spc="-75"/>
              <a:t> </a:t>
            </a:r>
            <a:r>
              <a:rPr dirty="0" spc="65"/>
              <a:t>find</a:t>
            </a:r>
            <a:r>
              <a:rPr dirty="0" spc="-75"/>
              <a:t> </a:t>
            </a:r>
            <a:r>
              <a:rPr dirty="0"/>
              <a:t>—</a:t>
            </a:r>
            <a:r>
              <a:rPr dirty="0" spc="-75"/>
              <a:t> </a:t>
            </a:r>
            <a:r>
              <a:rPr dirty="0" spc="85"/>
              <a:t>and</a:t>
            </a:r>
            <a:r>
              <a:rPr dirty="0" spc="-80"/>
              <a:t> </a:t>
            </a:r>
            <a:r>
              <a:rPr dirty="0" spc="75"/>
              <a:t>confirmed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0080" y="1691639"/>
            <a:ext cx="5349240" cy="2148840"/>
            <a:chOff x="640080" y="1691639"/>
            <a:chExt cx="5349240" cy="2148840"/>
          </a:xfrm>
        </p:grpSpPr>
        <p:sp>
          <p:nvSpPr>
            <p:cNvPr id="5" name="object 5"/>
            <p:cNvSpPr/>
            <p:nvPr/>
          </p:nvSpPr>
          <p:spPr>
            <a:xfrm>
              <a:off x="640080" y="1691639"/>
              <a:ext cx="5349240" cy="2148840"/>
            </a:xfrm>
            <a:custGeom>
              <a:avLst/>
              <a:gdLst/>
              <a:ahLst/>
              <a:cxnLst/>
              <a:rect l="l" t="t" r="r" b="b"/>
              <a:pathLst>
                <a:path w="5349240" h="2148840">
                  <a:moveTo>
                    <a:pt x="5275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9715" y="2112124"/>
                  </a:lnTo>
                  <a:lnTo>
                    <a:pt x="44984" y="2143375"/>
                  </a:lnTo>
                  <a:lnTo>
                    <a:pt x="73075" y="2148840"/>
                  </a:lnTo>
                  <a:lnTo>
                    <a:pt x="5276164" y="2148484"/>
                  </a:lnTo>
                  <a:lnTo>
                    <a:pt x="5320534" y="2133380"/>
                  </a:lnTo>
                  <a:lnTo>
                    <a:pt x="5343698" y="2103655"/>
                  </a:lnTo>
                  <a:lnTo>
                    <a:pt x="5343775" y="2103499"/>
                  </a:lnTo>
                  <a:lnTo>
                    <a:pt x="5346751" y="2094615"/>
                  </a:lnTo>
                  <a:lnTo>
                    <a:pt x="5346811" y="2094436"/>
                  </a:lnTo>
                  <a:lnTo>
                    <a:pt x="5348592" y="2085240"/>
                  </a:lnTo>
                  <a:lnTo>
                    <a:pt x="5348632" y="2085035"/>
                  </a:lnTo>
                  <a:lnTo>
                    <a:pt x="5349216" y="2075764"/>
                  </a:lnTo>
                  <a:lnTo>
                    <a:pt x="5349240" y="2075395"/>
                  </a:lnTo>
                  <a:lnTo>
                    <a:pt x="5348884" y="73075"/>
                  </a:lnTo>
                  <a:lnTo>
                    <a:pt x="5333780" y="28705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400" y="19659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282" y="0"/>
                  </a:moveTo>
                  <a:lnTo>
                    <a:pt x="186304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196" y="483631"/>
                  </a:lnTo>
                  <a:lnTo>
                    <a:pt x="218490" y="500721"/>
                  </a:lnTo>
                  <a:lnTo>
                    <a:pt x="251282" y="502919"/>
                  </a:lnTo>
                  <a:lnTo>
                    <a:pt x="284279" y="500721"/>
                  </a:lnTo>
                  <a:lnTo>
                    <a:pt x="347717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17" y="18982"/>
                  </a:lnTo>
                  <a:lnTo>
                    <a:pt x="284279" y="2142"/>
                  </a:lnTo>
                  <a:lnTo>
                    <a:pt x="251282" y="0"/>
                  </a:lnTo>
                  <a:close/>
                </a:path>
              </a:pathLst>
            </a:custGeom>
            <a:solidFill>
              <a:srgbClr val="5A4A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101140" y="2067382"/>
            <a:ext cx="130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7136" y="1947506"/>
            <a:ext cx="312674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Unify</a:t>
            </a:r>
            <a:r>
              <a:rPr dirty="0" sz="1450" spc="-2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four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modalities</a:t>
            </a:r>
            <a:r>
              <a:rPr dirty="0" sz="1450" spc="-3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145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one</a:t>
            </a:r>
            <a:r>
              <a:rPr dirty="0" sz="1450" spc="-2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450" spc="-20" b="1">
                <a:solidFill>
                  <a:srgbClr val="221A3C"/>
                </a:solidFill>
                <a:latin typeface="Calibri"/>
                <a:cs typeface="Calibri"/>
              </a:rPr>
              <a:t> space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1704" y="2638422"/>
            <a:ext cx="4439285" cy="61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Trained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shared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encoder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not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four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separate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ones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so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image,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audio,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text,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and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video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representations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same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class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land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near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each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other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in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6D6483"/>
                </a:solidFill>
                <a:latin typeface="Calibri"/>
                <a:cs typeface="Calibri"/>
              </a:rPr>
              <a:t>a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128-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d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latent</a:t>
            </a:r>
            <a:r>
              <a:rPr dirty="0" sz="115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space,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confirmed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visually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with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t-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SNE.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63640" y="1691639"/>
            <a:ext cx="5349240" cy="2148840"/>
            <a:chOff x="6263640" y="1691639"/>
            <a:chExt cx="5349240" cy="2148840"/>
          </a:xfrm>
        </p:grpSpPr>
        <p:sp>
          <p:nvSpPr>
            <p:cNvPr id="11" name="object 11"/>
            <p:cNvSpPr/>
            <p:nvPr/>
          </p:nvSpPr>
          <p:spPr>
            <a:xfrm>
              <a:off x="6263640" y="1691639"/>
              <a:ext cx="5349240" cy="2148840"/>
            </a:xfrm>
            <a:custGeom>
              <a:avLst/>
              <a:gdLst/>
              <a:ahLst/>
              <a:cxnLst/>
              <a:rect l="l" t="t" r="r" b="b"/>
              <a:pathLst>
                <a:path w="5349240" h="2148840">
                  <a:moveTo>
                    <a:pt x="5275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36360" y="2139124"/>
                  </a:lnTo>
                  <a:lnTo>
                    <a:pt x="73075" y="2148840"/>
                  </a:lnTo>
                  <a:lnTo>
                    <a:pt x="5276164" y="2148484"/>
                  </a:lnTo>
                  <a:lnTo>
                    <a:pt x="5320534" y="2133380"/>
                  </a:lnTo>
                  <a:lnTo>
                    <a:pt x="5346751" y="2094615"/>
                  </a:lnTo>
                  <a:lnTo>
                    <a:pt x="5346811" y="2094436"/>
                  </a:lnTo>
                  <a:lnTo>
                    <a:pt x="5348592" y="2085240"/>
                  </a:lnTo>
                  <a:lnTo>
                    <a:pt x="5348632" y="2085035"/>
                  </a:lnTo>
                  <a:lnTo>
                    <a:pt x="5349216" y="2075764"/>
                  </a:lnTo>
                  <a:lnTo>
                    <a:pt x="5349240" y="2075395"/>
                  </a:lnTo>
                  <a:lnTo>
                    <a:pt x="5348884" y="73075"/>
                  </a:lnTo>
                  <a:lnTo>
                    <a:pt x="5333780" y="28705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537960" y="19659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718579" y="2067382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00696" y="1947506"/>
            <a:ext cx="286956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 b="1">
                <a:solidFill>
                  <a:srgbClr val="221A3C"/>
                </a:solidFill>
                <a:latin typeface="Calibri"/>
                <a:cs typeface="Calibri"/>
              </a:rPr>
              <a:t>Generate</a:t>
            </a:r>
            <a:r>
              <a:rPr dirty="0" sz="1450" spc="-3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captions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145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any</a:t>
            </a:r>
            <a:r>
              <a:rPr dirty="0" sz="1450" spc="-4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21A3C"/>
                </a:solidFill>
                <a:latin typeface="Calibri"/>
                <a:cs typeface="Calibri"/>
              </a:rPr>
              <a:t>modality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5265" y="2638422"/>
            <a:ext cx="4571365" cy="61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single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text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decoder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 produces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natural-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language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descriptions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whether</a:t>
            </a:r>
            <a:r>
              <a:rPr dirty="0" sz="1150" spc="-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input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was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photo,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spectrogram,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caption,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or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video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clip,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without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needing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modality-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specific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decoder.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080" y="4069079"/>
            <a:ext cx="5349240" cy="2148840"/>
            <a:chOff x="640080" y="4069079"/>
            <a:chExt cx="5349240" cy="2148840"/>
          </a:xfrm>
        </p:grpSpPr>
        <p:sp>
          <p:nvSpPr>
            <p:cNvPr id="17" name="object 17"/>
            <p:cNvSpPr/>
            <p:nvPr/>
          </p:nvSpPr>
          <p:spPr>
            <a:xfrm>
              <a:off x="640080" y="4069079"/>
              <a:ext cx="5349240" cy="2148840"/>
            </a:xfrm>
            <a:custGeom>
              <a:avLst/>
              <a:gdLst/>
              <a:ahLst/>
              <a:cxnLst/>
              <a:rect l="l" t="t" r="r" b="b"/>
              <a:pathLst>
                <a:path w="5349240" h="2148840">
                  <a:moveTo>
                    <a:pt x="5275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36360" y="2139124"/>
                  </a:lnTo>
                  <a:lnTo>
                    <a:pt x="73075" y="2148840"/>
                  </a:lnTo>
                  <a:lnTo>
                    <a:pt x="5276164" y="2148484"/>
                  </a:lnTo>
                  <a:lnTo>
                    <a:pt x="5320534" y="2133380"/>
                  </a:lnTo>
                  <a:lnTo>
                    <a:pt x="5346751" y="2094615"/>
                  </a:lnTo>
                  <a:lnTo>
                    <a:pt x="5346811" y="2094436"/>
                  </a:lnTo>
                  <a:lnTo>
                    <a:pt x="5348592" y="2085240"/>
                  </a:lnTo>
                  <a:lnTo>
                    <a:pt x="5348632" y="2085035"/>
                  </a:lnTo>
                  <a:lnTo>
                    <a:pt x="5349216" y="2075764"/>
                  </a:lnTo>
                  <a:lnTo>
                    <a:pt x="5349240" y="2075395"/>
                  </a:lnTo>
                  <a:lnTo>
                    <a:pt x="5348884" y="73075"/>
                  </a:lnTo>
                  <a:lnTo>
                    <a:pt x="5333780" y="28705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400" y="434339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282" y="0"/>
                  </a:moveTo>
                  <a:lnTo>
                    <a:pt x="186304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196" y="483631"/>
                  </a:lnTo>
                  <a:lnTo>
                    <a:pt x="218490" y="500721"/>
                  </a:lnTo>
                  <a:lnTo>
                    <a:pt x="251282" y="502919"/>
                  </a:lnTo>
                  <a:lnTo>
                    <a:pt x="284279" y="500721"/>
                  </a:lnTo>
                  <a:lnTo>
                    <a:pt x="347717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17" y="18982"/>
                  </a:lnTo>
                  <a:lnTo>
                    <a:pt x="284279" y="2142"/>
                  </a:lnTo>
                  <a:lnTo>
                    <a:pt x="251282" y="0"/>
                  </a:lnTo>
                  <a:close/>
                </a:path>
              </a:pathLst>
            </a:custGeom>
            <a:solidFill>
              <a:srgbClr val="DF79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095019" y="4444822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7136" y="4324946"/>
            <a:ext cx="22904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Support</a:t>
            </a:r>
            <a:r>
              <a:rPr dirty="0" sz="1450" spc="-2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21A3C"/>
                </a:solidFill>
                <a:latin typeface="Calibri"/>
                <a:cs typeface="Calibri"/>
              </a:rPr>
              <a:t>cross-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modal</a:t>
            </a:r>
            <a:r>
              <a:rPr dirty="0" sz="1450" spc="-1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21A3C"/>
                </a:solidFill>
                <a:latin typeface="Calibri"/>
                <a:cs typeface="Calibri"/>
              </a:rPr>
              <a:t>retrieval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1704" y="5015862"/>
            <a:ext cx="4591050" cy="61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Measured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how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well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shared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latent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space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lets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modality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query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and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retrieve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matching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sample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in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another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(e.g.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audio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→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image),</a:t>
            </a:r>
            <a:r>
              <a:rPr dirty="0" sz="1150" spc="-1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strong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proxy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for</a:t>
            </a:r>
            <a:r>
              <a:rPr dirty="0" sz="115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genuine</a:t>
            </a:r>
            <a:r>
              <a:rPr dirty="0" sz="115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multimodal</a:t>
            </a:r>
            <a:r>
              <a:rPr dirty="0" sz="115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alignment.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63640" y="4069079"/>
            <a:ext cx="5349240" cy="2148840"/>
            <a:chOff x="6263640" y="4069079"/>
            <a:chExt cx="5349240" cy="2148840"/>
          </a:xfrm>
        </p:grpSpPr>
        <p:sp>
          <p:nvSpPr>
            <p:cNvPr id="23" name="object 23"/>
            <p:cNvSpPr/>
            <p:nvPr/>
          </p:nvSpPr>
          <p:spPr>
            <a:xfrm>
              <a:off x="6263640" y="4069079"/>
              <a:ext cx="5349240" cy="2148840"/>
            </a:xfrm>
            <a:custGeom>
              <a:avLst/>
              <a:gdLst/>
              <a:ahLst/>
              <a:cxnLst/>
              <a:rect l="l" t="t" r="r" b="b"/>
              <a:pathLst>
                <a:path w="5349240" h="2148840">
                  <a:moveTo>
                    <a:pt x="5275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15098" y="2120134"/>
                  </a:lnTo>
                  <a:lnTo>
                    <a:pt x="54046" y="2146411"/>
                  </a:lnTo>
                  <a:lnTo>
                    <a:pt x="73075" y="2148840"/>
                  </a:lnTo>
                  <a:lnTo>
                    <a:pt x="5276164" y="2148484"/>
                  </a:lnTo>
                  <a:lnTo>
                    <a:pt x="5320534" y="2133380"/>
                  </a:lnTo>
                  <a:lnTo>
                    <a:pt x="5343698" y="2103655"/>
                  </a:lnTo>
                  <a:lnTo>
                    <a:pt x="5343775" y="2103499"/>
                  </a:lnTo>
                  <a:lnTo>
                    <a:pt x="5346751" y="2094615"/>
                  </a:lnTo>
                  <a:lnTo>
                    <a:pt x="5346811" y="2094436"/>
                  </a:lnTo>
                  <a:lnTo>
                    <a:pt x="5348592" y="2085240"/>
                  </a:lnTo>
                  <a:lnTo>
                    <a:pt x="5348632" y="2085035"/>
                  </a:lnTo>
                  <a:lnTo>
                    <a:pt x="5349216" y="2075764"/>
                  </a:lnTo>
                  <a:lnTo>
                    <a:pt x="5349240" y="2075395"/>
                  </a:lnTo>
                  <a:lnTo>
                    <a:pt x="5348884" y="73075"/>
                  </a:lnTo>
                  <a:lnTo>
                    <a:pt x="5333780" y="28705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37960" y="434339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3C59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713905" y="4444822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0696" y="4324946"/>
            <a:ext cx="32556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Predict</a:t>
            </a:r>
            <a:r>
              <a:rPr dirty="0" sz="1450" spc="-3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future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states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45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21A3C"/>
                </a:solidFill>
                <a:latin typeface="Calibri"/>
                <a:cs typeface="Calibri"/>
              </a:rPr>
              <a:t>“world</a:t>
            </a:r>
            <a:r>
              <a:rPr dirty="0" sz="1450" spc="-3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21A3C"/>
                </a:solidFill>
                <a:latin typeface="Calibri"/>
                <a:cs typeface="Calibri"/>
              </a:rPr>
              <a:t>model”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15265" y="5015862"/>
            <a:ext cx="4498340" cy="61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Added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dynamics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network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that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rolls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latent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vector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forward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in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time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and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decodes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it</a:t>
            </a:r>
            <a:r>
              <a:rPr dirty="0" sz="115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back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to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pixels,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letting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model</a:t>
            </a:r>
            <a:r>
              <a:rPr dirty="0" sz="1150" spc="-2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“dream”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plausible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future</a:t>
            </a:r>
            <a:r>
              <a:rPr dirty="0" sz="115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frames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from</a:t>
            </a:r>
            <a:r>
              <a:rPr dirty="0" sz="115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a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single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D6483"/>
                </a:solidFill>
                <a:latin typeface="Calibri"/>
                <a:cs typeface="Calibri"/>
              </a:rPr>
              <a:t>starting</a:t>
            </a:r>
            <a:r>
              <a:rPr dirty="0" sz="1150" spc="-3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D6483"/>
                </a:solidFill>
                <a:latin typeface="Calibri"/>
                <a:cs typeface="Calibri"/>
              </a:rPr>
              <a:t>image.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687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3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L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AT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D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W</a:t>
            </a:r>
            <a:r>
              <a:rPr dirty="0" sz="1200" spc="-9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Where</a:t>
            </a:r>
            <a:r>
              <a:rPr dirty="0" spc="-80"/>
              <a:t> </a:t>
            </a:r>
            <a:r>
              <a:rPr dirty="0" spc="-240"/>
              <a:t>UMWM</a:t>
            </a:r>
            <a:r>
              <a:rPr dirty="0" spc="-90"/>
              <a:t> </a:t>
            </a:r>
            <a:r>
              <a:rPr dirty="0" spc="125"/>
              <a:t>sits</a:t>
            </a:r>
            <a:r>
              <a:rPr dirty="0" spc="-70"/>
              <a:t> </a:t>
            </a:r>
            <a:r>
              <a:rPr dirty="0" spc="100"/>
              <a:t>among</a:t>
            </a:r>
            <a:r>
              <a:rPr dirty="0" spc="-90"/>
              <a:t> </a:t>
            </a:r>
            <a:r>
              <a:rPr dirty="0" spc="100"/>
              <a:t>existing</a:t>
            </a:r>
            <a:r>
              <a:rPr dirty="0" spc="-80"/>
              <a:t> </a:t>
            </a:r>
            <a:r>
              <a:rPr dirty="0" spc="100"/>
              <a:t>ideas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3006" y="1684934"/>
            <a:ext cx="10894695" cy="1430655"/>
            <a:chOff x="633006" y="1684934"/>
            <a:chExt cx="10894695" cy="1430655"/>
          </a:xfrm>
        </p:grpSpPr>
        <p:sp>
          <p:nvSpPr>
            <p:cNvPr id="5" name="object 5"/>
            <p:cNvSpPr/>
            <p:nvPr/>
          </p:nvSpPr>
          <p:spPr>
            <a:xfrm>
              <a:off x="639356" y="1691284"/>
              <a:ext cx="10881995" cy="1417955"/>
            </a:xfrm>
            <a:custGeom>
              <a:avLst/>
              <a:gdLst/>
              <a:ahLst/>
              <a:cxnLst/>
              <a:rect l="l" t="t" r="r" b="b"/>
              <a:pathLst>
                <a:path w="10881995" h="1417955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1353591"/>
                  </a:lnTo>
                  <a:lnTo>
                    <a:pt x="540" y="1361941"/>
                  </a:lnTo>
                  <a:lnTo>
                    <a:pt x="18743" y="1398822"/>
                  </a:lnTo>
                  <a:lnTo>
                    <a:pt x="18859" y="1398955"/>
                  </a:lnTo>
                  <a:lnTo>
                    <a:pt x="55734" y="1417135"/>
                  </a:lnTo>
                  <a:lnTo>
                    <a:pt x="64084" y="1417675"/>
                  </a:lnTo>
                  <a:lnTo>
                    <a:pt x="10817644" y="1417675"/>
                  </a:lnTo>
                  <a:lnTo>
                    <a:pt x="10856681" y="1404317"/>
                  </a:lnTo>
                  <a:lnTo>
                    <a:pt x="10879566" y="1370155"/>
                  </a:lnTo>
                  <a:lnTo>
                    <a:pt x="10881728" y="1353591"/>
                  </a:lnTo>
                  <a:lnTo>
                    <a:pt x="10881704" y="64071"/>
                  </a:lnTo>
                  <a:lnTo>
                    <a:pt x="10868363" y="25397"/>
                  </a:lnTo>
                  <a:lnTo>
                    <a:pt x="10834203" y="2516"/>
                  </a:lnTo>
                  <a:lnTo>
                    <a:pt x="108176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356" y="1691284"/>
              <a:ext cx="10881995" cy="1417955"/>
            </a:xfrm>
            <a:custGeom>
              <a:avLst/>
              <a:gdLst/>
              <a:ahLst/>
              <a:cxnLst/>
              <a:rect l="l" t="t" r="r" b="b"/>
              <a:pathLst>
                <a:path w="10881995" h="1417955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0817644" y="355"/>
                  </a:lnTo>
                  <a:lnTo>
                    <a:pt x="10856631" y="13563"/>
                  </a:lnTo>
                  <a:lnTo>
                    <a:pt x="10879566" y="47875"/>
                  </a:lnTo>
                  <a:lnTo>
                    <a:pt x="10881728" y="64439"/>
                  </a:lnTo>
                  <a:lnTo>
                    <a:pt x="10881728" y="1353591"/>
                  </a:lnTo>
                  <a:lnTo>
                    <a:pt x="10881187" y="1361941"/>
                  </a:lnTo>
                  <a:lnTo>
                    <a:pt x="10879566" y="1370155"/>
                  </a:lnTo>
                  <a:lnTo>
                    <a:pt x="10856681" y="1404317"/>
                  </a:lnTo>
                  <a:lnTo>
                    <a:pt x="10817644" y="1417675"/>
                  </a:lnTo>
                  <a:lnTo>
                    <a:pt x="64084" y="1417675"/>
                  </a:lnTo>
                  <a:lnTo>
                    <a:pt x="25097" y="1404467"/>
                  </a:lnTo>
                  <a:lnTo>
                    <a:pt x="2162" y="1370155"/>
                  </a:lnTo>
                  <a:lnTo>
                    <a:pt x="0" y="1353591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E3D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45984" y="1825815"/>
            <a:ext cx="1464945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CLIP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ts val="1530"/>
              </a:lnSpc>
            </a:pP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(Radford</a:t>
            </a:r>
            <a:r>
              <a:rPr dirty="0" sz="1300" spc="-35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et</a:t>
            </a:r>
            <a:r>
              <a:rPr dirty="0" sz="1300" spc="-3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al.,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2021)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984" y="2637980"/>
            <a:ext cx="176148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Contrastive</a:t>
            </a:r>
            <a:r>
              <a:rPr dirty="0" sz="1000" spc="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image–text</a:t>
            </a:r>
            <a:r>
              <a:rPr dirty="0" sz="1000" spc="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alignment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11879" y="1828800"/>
            <a:ext cx="3978275" cy="1143000"/>
          </a:xfrm>
          <a:custGeom>
            <a:avLst/>
            <a:gdLst/>
            <a:ahLst/>
            <a:cxnLst/>
            <a:rect l="l" t="t" r="r" b="b"/>
            <a:pathLst>
              <a:path w="3978275" h="1143000">
                <a:moveTo>
                  <a:pt x="0" y="0"/>
                </a:moveTo>
                <a:lnTo>
                  <a:pt x="355" y="1143000"/>
                </a:lnTo>
              </a:path>
              <a:path w="3978275" h="1143000">
                <a:moveTo>
                  <a:pt x="3977640" y="0"/>
                </a:moveTo>
                <a:lnTo>
                  <a:pt x="3977995" y="1143000"/>
                </a:lnTo>
              </a:path>
            </a:pathLst>
          </a:custGeom>
          <a:ln w="12599">
            <a:solidFill>
              <a:srgbClr val="D7D1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17784" y="1833582"/>
            <a:ext cx="31349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00A28E"/>
                </a:solidFill>
                <a:latin typeface="Calibri"/>
                <a:cs typeface="Calibri"/>
              </a:rPr>
              <a:t>Similar:</a:t>
            </a:r>
            <a:r>
              <a:rPr dirty="0" sz="1100" spc="235" b="1">
                <a:solidFill>
                  <a:srgbClr val="00A28E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Uses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same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221A3C"/>
                </a:solidFill>
                <a:latin typeface="Calibri"/>
                <a:cs typeface="Calibri"/>
              </a:rPr>
              <a:t>NT-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Xent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contrastive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loss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to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pull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matching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pairs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together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shared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space.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5056" y="1833582"/>
            <a:ext cx="317500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C15339"/>
                </a:solidFill>
                <a:latin typeface="Calibri"/>
                <a:cs typeface="Calibri"/>
              </a:rPr>
              <a:t>Different:</a:t>
            </a:r>
            <a:r>
              <a:rPr dirty="0" sz="1100" spc="185" b="1">
                <a:solidFill>
                  <a:srgbClr val="C1533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Only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2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modalities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(image,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text);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no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reconstruction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and no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decoder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UMWM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adds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audio </a:t>
            </a:r>
            <a:r>
              <a:rPr dirty="0" sz="1100" spc="-50">
                <a:solidFill>
                  <a:srgbClr val="221A3C"/>
                </a:solidFill>
                <a:latin typeface="Calibri"/>
                <a:cs typeface="Calibri"/>
              </a:rPr>
              <a:t>+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 video and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generative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decoder.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9356" y="3245764"/>
            <a:ext cx="10881995" cy="1417955"/>
          </a:xfrm>
          <a:custGeom>
            <a:avLst/>
            <a:gdLst/>
            <a:ahLst/>
            <a:cxnLst/>
            <a:rect l="l" t="t" r="r" b="b"/>
            <a:pathLst>
              <a:path w="10881995" h="1417954">
                <a:moveTo>
                  <a:pt x="368" y="64071"/>
                </a:moveTo>
                <a:lnTo>
                  <a:pt x="906" y="55728"/>
                </a:lnTo>
                <a:lnTo>
                  <a:pt x="2524" y="47517"/>
                </a:lnTo>
                <a:lnTo>
                  <a:pt x="25402" y="13357"/>
                </a:lnTo>
                <a:lnTo>
                  <a:pt x="64439" y="0"/>
                </a:lnTo>
                <a:lnTo>
                  <a:pt x="10817644" y="355"/>
                </a:lnTo>
                <a:lnTo>
                  <a:pt x="10856631" y="13563"/>
                </a:lnTo>
                <a:lnTo>
                  <a:pt x="10879566" y="47875"/>
                </a:lnTo>
                <a:lnTo>
                  <a:pt x="10881728" y="64439"/>
                </a:lnTo>
                <a:lnTo>
                  <a:pt x="10881728" y="1353591"/>
                </a:lnTo>
                <a:lnTo>
                  <a:pt x="10881187" y="1361941"/>
                </a:lnTo>
                <a:lnTo>
                  <a:pt x="10879566" y="1370155"/>
                </a:lnTo>
                <a:lnTo>
                  <a:pt x="10856681" y="1404317"/>
                </a:lnTo>
                <a:lnTo>
                  <a:pt x="10817644" y="1417675"/>
                </a:lnTo>
                <a:lnTo>
                  <a:pt x="64084" y="1417675"/>
                </a:lnTo>
                <a:lnTo>
                  <a:pt x="25097" y="1404467"/>
                </a:lnTo>
                <a:lnTo>
                  <a:pt x="2162" y="1370155"/>
                </a:lnTo>
                <a:lnTo>
                  <a:pt x="0" y="1353591"/>
                </a:lnTo>
                <a:lnTo>
                  <a:pt x="368" y="64071"/>
                </a:lnTo>
                <a:close/>
              </a:path>
            </a:pathLst>
          </a:custGeom>
          <a:ln w="12599">
            <a:solidFill>
              <a:srgbClr val="E3D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45984" y="3380295"/>
            <a:ext cx="902969" cy="4146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200"/>
              </a:spcBef>
            </a:pP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ImageBind (Meta,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2023)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5984" y="4192460"/>
            <a:ext cx="19856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00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embedding</a:t>
            </a:r>
            <a:r>
              <a:rPr dirty="0" sz="10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space</a:t>
            </a:r>
            <a:r>
              <a:rPr dirty="0" sz="10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for</a:t>
            </a:r>
            <a:r>
              <a:rPr dirty="0" sz="10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6</a:t>
            </a:r>
            <a:r>
              <a:rPr dirty="0" sz="10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modalities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11879" y="3383279"/>
            <a:ext cx="3978275" cy="1143000"/>
          </a:xfrm>
          <a:custGeom>
            <a:avLst/>
            <a:gdLst/>
            <a:ahLst/>
            <a:cxnLst/>
            <a:rect l="l" t="t" r="r" b="b"/>
            <a:pathLst>
              <a:path w="3978275" h="1143000">
                <a:moveTo>
                  <a:pt x="0" y="0"/>
                </a:moveTo>
                <a:lnTo>
                  <a:pt x="355" y="1143000"/>
                </a:lnTo>
              </a:path>
              <a:path w="3978275" h="1143000">
                <a:moveTo>
                  <a:pt x="3977640" y="0"/>
                </a:moveTo>
                <a:lnTo>
                  <a:pt x="3977995" y="1143000"/>
                </a:lnTo>
              </a:path>
            </a:pathLst>
          </a:custGeom>
          <a:ln w="12599">
            <a:solidFill>
              <a:srgbClr val="D7D1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17784" y="3388062"/>
            <a:ext cx="34004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00A28E"/>
                </a:solidFill>
                <a:latin typeface="Calibri"/>
                <a:cs typeface="Calibri"/>
              </a:rPr>
              <a:t>Similar:</a:t>
            </a:r>
            <a:r>
              <a:rPr dirty="0" sz="1100" spc="210" b="1">
                <a:solidFill>
                  <a:srgbClr val="00A28E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Same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core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idea: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bind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many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modalities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into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single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joint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embedding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space.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95056" y="3388062"/>
            <a:ext cx="334962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C15339"/>
                </a:solidFill>
                <a:latin typeface="Calibri"/>
                <a:cs typeface="Calibri"/>
              </a:rPr>
              <a:t>Different:</a:t>
            </a:r>
            <a:r>
              <a:rPr dirty="0" sz="1100" spc="204" b="1">
                <a:solidFill>
                  <a:srgbClr val="C1533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ImageBind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is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large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pretrained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contrastive-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only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model;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UMWM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is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 compact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VAE-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based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model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trained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from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scratch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 with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reconstruction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+</a:t>
            </a:r>
            <a:r>
              <a:rPr dirty="0" sz="1100" spc="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generation.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3006" y="4793894"/>
            <a:ext cx="10894695" cy="1430655"/>
            <a:chOff x="633006" y="4793894"/>
            <a:chExt cx="10894695" cy="1430655"/>
          </a:xfrm>
        </p:grpSpPr>
        <p:sp>
          <p:nvSpPr>
            <p:cNvPr id="19" name="object 19"/>
            <p:cNvSpPr/>
            <p:nvPr/>
          </p:nvSpPr>
          <p:spPr>
            <a:xfrm>
              <a:off x="639356" y="4800244"/>
              <a:ext cx="10881995" cy="1417955"/>
            </a:xfrm>
            <a:custGeom>
              <a:avLst/>
              <a:gdLst/>
              <a:ahLst/>
              <a:cxnLst/>
              <a:rect l="l" t="t" r="r" b="b"/>
              <a:pathLst>
                <a:path w="10881995" h="141795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1353591"/>
                  </a:lnTo>
                  <a:lnTo>
                    <a:pt x="540" y="1361941"/>
                  </a:lnTo>
                  <a:lnTo>
                    <a:pt x="18743" y="1398822"/>
                  </a:lnTo>
                  <a:lnTo>
                    <a:pt x="18859" y="1398955"/>
                  </a:lnTo>
                  <a:lnTo>
                    <a:pt x="55734" y="1417135"/>
                  </a:lnTo>
                  <a:lnTo>
                    <a:pt x="64084" y="1417675"/>
                  </a:lnTo>
                  <a:lnTo>
                    <a:pt x="10817644" y="1417675"/>
                  </a:lnTo>
                  <a:lnTo>
                    <a:pt x="10856681" y="1404317"/>
                  </a:lnTo>
                  <a:lnTo>
                    <a:pt x="10879566" y="1370155"/>
                  </a:lnTo>
                  <a:lnTo>
                    <a:pt x="10881728" y="1353591"/>
                  </a:lnTo>
                  <a:lnTo>
                    <a:pt x="10881704" y="64071"/>
                  </a:lnTo>
                  <a:lnTo>
                    <a:pt x="10868363" y="25397"/>
                  </a:lnTo>
                  <a:lnTo>
                    <a:pt x="10834203" y="2516"/>
                  </a:lnTo>
                  <a:lnTo>
                    <a:pt x="108176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9356" y="4800244"/>
              <a:ext cx="10881995" cy="1417955"/>
            </a:xfrm>
            <a:custGeom>
              <a:avLst/>
              <a:gdLst/>
              <a:ahLst/>
              <a:cxnLst/>
              <a:rect l="l" t="t" r="r" b="b"/>
              <a:pathLst>
                <a:path w="10881995" h="141795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0817644" y="355"/>
                  </a:lnTo>
                  <a:lnTo>
                    <a:pt x="10856631" y="13563"/>
                  </a:lnTo>
                  <a:lnTo>
                    <a:pt x="10879566" y="47875"/>
                  </a:lnTo>
                  <a:lnTo>
                    <a:pt x="10881728" y="64439"/>
                  </a:lnTo>
                  <a:lnTo>
                    <a:pt x="10881728" y="1353591"/>
                  </a:lnTo>
                  <a:lnTo>
                    <a:pt x="10881187" y="1361941"/>
                  </a:lnTo>
                  <a:lnTo>
                    <a:pt x="10879566" y="1370155"/>
                  </a:lnTo>
                  <a:lnTo>
                    <a:pt x="10856681" y="1404317"/>
                  </a:lnTo>
                  <a:lnTo>
                    <a:pt x="10817644" y="1417675"/>
                  </a:lnTo>
                  <a:lnTo>
                    <a:pt x="64084" y="1417675"/>
                  </a:lnTo>
                  <a:lnTo>
                    <a:pt x="25097" y="1404467"/>
                  </a:lnTo>
                  <a:lnTo>
                    <a:pt x="2162" y="1370155"/>
                  </a:lnTo>
                  <a:lnTo>
                    <a:pt x="0" y="1353591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E3D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45984" y="4934775"/>
            <a:ext cx="233426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World</a:t>
            </a:r>
            <a:r>
              <a:rPr dirty="0" sz="1300" spc="-35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Models</a:t>
            </a:r>
            <a:r>
              <a:rPr dirty="0" sz="1300" spc="-5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/</a:t>
            </a:r>
            <a:r>
              <a:rPr dirty="0" sz="1300" spc="-4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Dreamer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ts val="1530"/>
              </a:lnSpc>
            </a:pP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(Ha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&amp;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A0F34"/>
                </a:solidFill>
                <a:latin typeface="Calibri"/>
                <a:cs typeface="Calibri"/>
              </a:rPr>
              <a:t>Schmidhuber;</a:t>
            </a:r>
            <a:r>
              <a:rPr dirty="0" sz="1300" spc="-25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Hafner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A0F34"/>
                </a:solidFill>
                <a:latin typeface="Calibri"/>
                <a:cs typeface="Calibri"/>
              </a:rPr>
              <a:t>et</a:t>
            </a:r>
            <a:r>
              <a:rPr dirty="0" sz="1300" spc="-20" b="1">
                <a:solidFill>
                  <a:srgbClr val="1A0F34"/>
                </a:solidFill>
                <a:latin typeface="Calibri"/>
                <a:cs typeface="Calibri"/>
              </a:rPr>
              <a:t> al.)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5984" y="5746940"/>
            <a:ext cx="22510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Latent</a:t>
            </a:r>
            <a:r>
              <a:rPr dirty="0" sz="100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dynamics</a:t>
            </a:r>
            <a:r>
              <a:rPr dirty="0" sz="10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for</a:t>
            </a:r>
            <a:r>
              <a:rPr dirty="0" sz="100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planning</a:t>
            </a:r>
            <a:r>
              <a:rPr dirty="0" sz="100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D6483"/>
                </a:solidFill>
                <a:latin typeface="Calibri"/>
                <a:cs typeface="Calibri"/>
              </a:rPr>
              <a:t>&amp;</a:t>
            </a:r>
            <a:r>
              <a:rPr dirty="0" sz="10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D6483"/>
                </a:solidFill>
                <a:latin typeface="Calibri"/>
                <a:cs typeface="Calibri"/>
              </a:rPr>
              <a:t>“dreaming”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11879" y="4937759"/>
            <a:ext cx="3978275" cy="1143000"/>
          </a:xfrm>
          <a:custGeom>
            <a:avLst/>
            <a:gdLst/>
            <a:ahLst/>
            <a:cxnLst/>
            <a:rect l="l" t="t" r="r" b="b"/>
            <a:pathLst>
              <a:path w="3978275" h="1143000">
                <a:moveTo>
                  <a:pt x="0" y="0"/>
                </a:moveTo>
                <a:lnTo>
                  <a:pt x="355" y="1142999"/>
                </a:lnTo>
              </a:path>
              <a:path w="3978275" h="1143000">
                <a:moveTo>
                  <a:pt x="3977640" y="0"/>
                </a:moveTo>
                <a:lnTo>
                  <a:pt x="3977995" y="1142999"/>
                </a:lnTo>
              </a:path>
            </a:pathLst>
          </a:custGeom>
          <a:ln w="12599">
            <a:solidFill>
              <a:srgbClr val="D7D1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917784" y="4942542"/>
            <a:ext cx="344360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00A28E"/>
                </a:solidFill>
                <a:latin typeface="Calibri"/>
                <a:cs typeface="Calibri"/>
              </a:rPr>
              <a:t>Similar:</a:t>
            </a:r>
            <a:r>
              <a:rPr dirty="0" sz="1100" spc="200" b="1">
                <a:solidFill>
                  <a:srgbClr val="00A28E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Same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VAE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+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dynamics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recipe: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encode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observations,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learn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GRU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that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rolls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state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forward.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95056" y="4942542"/>
            <a:ext cx="301180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C15339"/>
                </a:solidFill>
                <a:latin typeface="Calibri"/>
                <a:cs typeface="Calibri"/>
              </a:rPr>
              <a:t>Different:</a:t>
            </a:r>
            <a:r>
              <a:rPr dirty="0" sz="1100" spc="195" b="1">
                <a:solidFill>
                  <a:srgbClr val="C1533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Original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world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models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are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single-modality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(vision)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RL-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driven;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UMWM's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dynamics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module operates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over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multimodal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shared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instead.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930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4</a:t>
            </a:r>
            <a:r>
              <a:rPr dirty="0" sz="1200" spc="3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E4C6"/>
                </a:solidFill>
                <a:latin typeface="Calibri"/>
                <a:cs typeface="Calibri"/>
              </a:rPr>
              <a:t>M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H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D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—</a:t>
            </a:r>
            <a:r>
              <a:rPr dirty="0" sz="12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D</a:t>
            </a:r>
            <a:r>
              <a:rPr dirty="0" sz="12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35" b="1">
                <a:solidFill>
                  <a:srgbClr val="00E4C6"/>
                </a:solidFill>
                <a:latin typeface="Calibri"/>
                <a:cs typeface="Calibri"/>
              </a:rPr>
              <a:t>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Turning</a:t>
            </a:r>
            <a:r>
              <a:rPr dirty="0" spc="-55"/>
              <a:t> </a:t>
            </a:r>
            <a:r>
              <a:rPr dirty="0" spc="-315"/>
              <a:t>CIFAR-</a:t>
            </a:r>
            <a:r>
              <a:rPr dirty="0"/>
              <a:t>10</a:t>
            </a:r>
            <a:r>
              <a:rPr dirty="0" spc="-50"/>
              <a:t> </a:t>
            </a:r>
            <a:r>
              <a:rPr dirty="0" spc="90"/>
              <a:t>into</a:t>
            </a:r>
            <a:r>
              <a:rPr dirty="0" spc="-45"/>
              <a:t> </a:t>
            </a:r>
            <a:r>
              <a:rPr dirty="0" spc="65"/>
              <a:t>four</a:t>
            </a:r>
            <a:r>
              <a:rPr dirty="0" spc="-50"/>
              <a:t> </a:t>
            </a:r>
            <a:r>
              <a:rPr dirty="0" spc="90"/>
              <a:t>aligned</a:t>
            </a:r>
            <a:r>
              <a:rPr dirty="0" spc="-55"/>
              <a:t> </a:t>
            </a:r>
            <a:r>
              <a:rPr dirty="0" spc="105"/>
              <a:t>modalities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016" y="1667052"/>
            <a:ext cx="101536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Every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of</a:t>
            </a:r>
            <a:r>
              <a:rPr dirty="0" sz="1350" spc="-4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four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modalities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is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derived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from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same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CIFAR-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10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image,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so</a:t>
            </a:r>
            <a:r>
              <a:rPr dirty="0" sz="1350" spc="-4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every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sample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carries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label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and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four</a:t>
            </a:r>
            <a:r>
              <a:rPr dirty="0" sz="13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consistent,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D6483"/>
                </a:solidFill>
                <a:latin typeface="Calibri"/>
                <a:cs typeface="Calibri"/>
              </a:rPr>
              <a:t>aligned</a:t>
            </a:r>
            <a:r>
              <a:rPr dirty="0" sz="135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views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D6483"/>
                </a:solidFill>
                <a:latin typeface="Calibri"/>
                <a:cs typeface="Calibri"/>
              </a:rPr>
              <a:t>of</a:t>
            </a:r>
            <a:r>
              <a:rPr dirty="0" sz="1350" spc="-4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350" spc="-25" i="1">
                <a:solidFill>
                  <a:srgbClr val="6D6483"/>
                </a:solidFill>
                <a:latin typeface="Calibri"/>
                <a:cs typeface="Calibri"/>
              </a:rPr>
              <a:t>it.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724" y="2194204"/>
            <a:ext cx="2606675" cy="3521075"/>
            <a:chOff x="639724" y="2194204"/>
            <a:chExt cx="2606675" cy="3521075"/>
          </a:xfrm>
        </p:grpSpPr>
        <p:sp>
          <p:nvSpPr>
            <p:cNvPr id="6" name="object 6"/>
            <p:cNvSpPr/>
            <p:nvPr/>
          </p:nvSpPr>
          <p:spPr>
            <a:xfrm>
              <a:off x="639724" y="2194204"/>
              <a:ext cx="2606675" cy="3521075"/>
            </a:xfrm>
            <a:custGeom>
              <a:avLst/>
              <a:gdLst/>
              <a:ahLst/>
              <a:cxnLst/>
              <a:rect l="l" t="t" r="r" b="b"/>
              <a:pathLst>
                <a:path w="2606675" h="352107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3438359"/>
                  </a:lnTo>
                  <a:lnTo>
                    <a:pt x="719" y="3449125"/>
                  </a:lnTo>
                  <a:lnTo>
                    <a:pt x="729" y="3449281"/>
                  </a:lnTo>
                  <a:lnTo>
                    <a:pt x="2838" y="3459686"/>
                  </a:lnTo>
                  <a:lnTo>
                    <a:pt x="2874" y="3459865"/>
                  </a:lnTo>
                  <a:lnTo>
                    <a:pt x="6299" y="3469842"/>
                  </a:lnTo>
                  <a:lnTo>
                    <a:pt x="6370" y="3470047"/>
                  </a:lnTo>
                  <a:lnTo>
                    <a:pt x="11150" y="3479761"/>
                  </a:lnTo>
                  <a:lnTo>
                    <a:pt x="17036" y="3488420"/>
                  </a:lnTo>
                  <a:lnTo>
                    <a:pt x="17141" y="3488576"/>
                  </a:lnTo>
                  <a:lnTo>
                    <a:pt x="50942" y="3514414"/>
                  </a:lnTo>
                  <a:lnTo>
                    <a:pt x="82435" y="3520795"/>
                  </a:lnTo>
                  <a:lnTo>
                    <a:pt x="2523959" y="3520795"/>
                  </a:lnTo>
                  <a:lnTo>
                    <a:pt x="2565361" y="3509632"/>
                  </a:lnTo>
                  <a:lnTo>
                    <a:pt x="2595232" y="3479393"/>
                  </a:lnTo>
                  <a:lnTo>
                    <a:pt x="2603452" y="3459865"/>
                  </a:lnTo>
                  <a:lnTo>
                    <a:pt x="2603514" y="3459686"/>
                  </a:lnTo>
                  <a:lnTo>
                    <a:pt x="2605632" y="3449281"/>
                  </a:lnTo>
                  <a:lnTo>
                    <a:pt x="2605663" y="3449125"/>
                  </a:lnTo>
                  <a:lnTo>
                    <a:pt x="2606395" y="3438359"/>
                  </a:lnTo>
                  <a:lnTo>
                    <a:pt x="2606371" y="82435"/>
                  </a:lnTo>
                  <a:lnTo>
                    <a:pt x="2595232" y="41389"/>
                  </a:lnTo>
                  <a:lnTo>
                    <a:pt x="2564993" y="11518"/>
                  </a:lnTo>
                  <a:lnTo>
                    <a:pt x="25239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0080" y="2194560"/>
              <a:ext cx="2606040" cy="502920"/>
            </a:xfrm>
            <a:custGeom>
              <a:avLst/>
              <a:gdLst/>
              <a:ahLst/>
              <a:cxnLst/>
              <a:rect l="l" t="t" r="r" b="b"/>
              <a:pathLst>
                <a:path w="2606040" h="502919">
                  <a:moveTo>
                    <a:pt x="2605684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1302842" y="502564"/>
                  </a:lnTo>
                  <a:lnTo>
                    <a:pt x="2605684" y="502564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5A4A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637538" y="2326576"/>
            <a:ext cx="610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5" b="1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264" y="2912523"/>
            <a:ext cx="1905000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Base signal: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original 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CIFAR-10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photo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(32×32,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3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channels,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10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classes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airplane,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automobile,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bird,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cat,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deer,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dog,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frog,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horse,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ship,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truck).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74364" y="2194204"/>
            <a:ext cx="2606675" cy="3521075"/>
            <a:chOff x="3474364" y="2194204"/>
            <a:chExt cx="2606675" cy="3521075"/>
          </a:xfrm>
        </p:grpSpPr>
        <p:sp>
          <p:nvSpPr>
            <p:cNvPr id="11" name="object 11"/>
            <p:cNvSpPr/>
            <p:nvPr/>
          </p:nvSpPr>
          <p:spPr>
            <a:xfrm>
              <a:off x="3474364" y="2194204"/>
              <a:ext cx="2606675" cy="3521075"/>
            </a:xfrm>
            <a:custGeom>
              <a:avLst/>
              <a:gdLst/>
              <a:ahLst/>
              <a:cxnLst/>
              <a:rect l="l" t="t" r="r" b="b"/>
              <a:pathLst>
                <a:path w="2606675" h="352107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3438359"/>
                  </a:lnTo>
                  <a:lnTo>
                    <a:pt x="719" y="3449125"/>
                  </a:lnTo>
                  <a:lnTo>
                    <a:pt x="729" y="3449281"/>
                  </a:lnTo>
                  <a:lnTo>
                    <a:pt x="2838" y="3459686"/>
                  </a:lnTo>
                  <a:lnTo>
                    <a:pt x="2874" y="3459865"/>
                  </a:lnTo>
                  <a:lnTo>
                    <a:pt x="6299" y="3469842"/>
                  </a:lnTo>
                  <a:lnTo>
                    <a:pt x="6370" y="3470047"/>
                  </a:lnTo>
                  <a:lnTo>
                    <a:pt x="11150" y="3479761"/>
                  </a:lnTo>
                  <a:lnTo>
                    <a:pt x="41389" y="3509632"/>
                  </a:lnTo>
                  <a:lnTo>
                    <a:pt x="82435" y="3520795"/>
                  </a:lnTo>
                  <a:lnTo>
                    <a:pt x="2523959" y="3520795"/>
                  </a:lnTo>
                  <a:lnTo>
                    <a:pt x="2565361" y="3509632"/>
                  </a:lnTo>
                  <a:lnTo>
                    <a:pt x="2595232" y="3479393"/>
                  </a:lnTo>
                  <a:lnTo>
                    <a:pt x="2606395" y="3438359"/>
                  </a:lnTo>
                  <a:lnTo>
                    <a:pt x="2606371" y="82435"/>
                  </a:lnTo>
                  <a:lnTo>
                    <a:pt x="2595232" y="41389"/>
                  </a:lnTo>
                  <a:lnTo>
                    <a:pt x="2564993" y="11518"/>
                  </a:lnTo>
                  <a:lnTo>
                    <a:pt x="25239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74719" y="2194560"/>
              <a:ext cx="2606040" cy="502920"/>
            </a:xfrm>
            <a:custGeom>
              <a:avLst/>
              <a:gdLst/>
              <a:ahLst/>
              <a:cxnLst/>
              <a:rect l="l" t="t" r="r" b="b"/>
              <a:pathLst>
                <a:path w="2606040" h="502919">
                  <a:moveTo>
                    <a:pt x="2605684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1302842" y="502564"/>
                  </a:lnTo>
                  <a:lnTo>
                    <a:pt x="2605684" y="502564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475784" y="2326576"/>
            <a:ext cx="6026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5" b="1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4904" y="2912523"/>
            <a:ext cx="2067560" cy="1207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Synthetic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mel-spectrograms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 with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per-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class acoustic</a:t>
            </a:r>
            <a:r>
              <a:rPr dirty="0" sz="110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“signature” (frequency,</a:t>
            </a:r>
            <a:r>
              <a:rPr dirty="0" sz="110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bandwidth,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pattern)</a:t>
            </a:r>
            <a:r>
              <a:rPr dirty="0" sz="110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plus</a:t>
            </a:r>
            <a:r>
              <a:rPr dirty="0" sz="1100" spc="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per-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sample</a:t>
            </a:r>
            <a:r>
              <a:rPr dirty="0" sz="110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randomization,</a:t>
            </a:r>
            <a:r>
              <a:rPr dirty="0" sz="1100" spc="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so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task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has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real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intra-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class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variance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instead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of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fixed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lookup.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09004" y="2194204"/>
            <a:ext cx="2606675" cy="3521075"/>
            <a:chOff x="6309004" y="2194204"/>
            <a:chExt cx="2606675" cy="3521075"/>
          </a:xfrm>
        </p:grpSpPr>
        <p:sp>
          <p:nvSpPr>
            <p:cNvPr id="16" name="object 16"/>
            <p:cNvSpPr/>
            <p:nvPr/>
          </p:nvSpPr>
          <p:spPr>
            <a:xfrm>
              <a:off x="6309004" y="2194204"/>
              <a:ext cx="2606675" cy="3521075"/>
            </a:xfrm>
            <a:custGeom>
              <a:avLst/>
              <a:gdLst/>
              <a:ahLst/>
              <a:cxnLst/>
              <a:rect l="l" t="t" r="r" b="b"/>
              <a:pathLst>
                <a:path w="2606675" h="352107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3438359"/>
                  </a:lnTo>
                  <a:lnTo>
                    <a:pt x="719" y="3449125"/>
                  </a:lnTo>
                  <a:lnTo>
                    <a:pt x="729" y="3449281"/>
                  </a:lnTo>
                  <a:lnTo>
                    <a:pt x="2838" y="3459686"/>
                  </a:lnTo>
                  <a:lnTo>
                    <a:pt x="2874" y="3459865"/>
                  </a:lnTo>
                  <a:lnTo>
                    <a:pt x="6299" y="3469842"/>
                  </a:lnTo>
                  <a:lnTo>
                    <a:pt x="6370" y="3470047"/>
                  </a:lnTo>
                  <a:lnTo>
                    <a:pt x="11150" y="3479761"/>
                  </a:lnTo>
                  <a:lnTo>
                    <a:pt x="41389" y="3509632"/>
                  </a:lnTo>
                  <a:lnTo>
                    <a:pt x="82435" y="3520795"/>
                  </a:lnTo>
                  <a:lnTo>
                    <a:pt x="2523959" y="3520795"/>
                  </a:lnTo>
                  <a:lnTo>
                    <a:pt x="2565361" y="3509632"/>
                  </a:lnTo>
                  <a:lnTo>
                    <a:pt x="2595232" y="3479393"/>
                  </a:lnTo>
                  <a:lnTo>
                    <a:pt x="2606395" y="3438359"/>
                  </a:lnTo>
                  <a:lnTo>
                    <a:pt x="2606371" y="82435"/>
                  </a:lnTo>
                  <a:lnTo>
                    <a:pt x="2595232" y="41389"/>
                  </a:lnTo>
                  <a:lnTo>
                    <a:pt x="2564993" y="11518"/>
                  </a:lnTo>
                  <a:lnTo>
                    <a:pt x="25239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09360" y="2194560"/>
              <a:ext cx="2606040" cy="502920"/>
            </a:xfrm>
            <a:custGeom>
              <a:avLst/>
              <a:gdLst/>
              <a:ahLst/>
              <a:cxnLst/>
              <a:rect l="l" t="t" r="r" b="b"/>
              <a:pathLst>
                <a:path w="2606040" h="502919">
                  <a:moveTo>
                    <a:pt x="2605684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1302842" y="502564"/>
                  </a:lnTo>
                  <a:lnTo>
                    <a:pt x="2605684" y="502564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DF79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390345" y="2326576"/>
            <a:ext cx="4432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5" b="1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69544" y="2912523"/>
            <a:ext cx="2059939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Captions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built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10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templates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(e.g.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“a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photo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of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{}”,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“a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{}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captured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camera”)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filled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with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class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name,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then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tokenized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against</a:t>
            </a: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 custom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vocabulary.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143644" y="2194204"/>
            <a:ext cx="2606675" cy="3521075"/>
            <a:chOff x="9143644" y="2194204"/>
            <a:chExt cx="2606675" cy="3521075"/>
          </a:xfrm>
        </p:grpSpPr>
        <p:sp>
          <p:nvSpPr>
            <p:cNvPr id="21" name="object 21"/>
            <p:cNvSpPr/>
            <p:nvPr/>
          </p:nvSpPr>
          <p:spPr>
            <a:xfrm>
              <a:off x="9143644" y="2194204"/>
              <a:ext cx="2606675" cy="3521075"/>
            </a:xfrm>
            <a:custGeom>
              <a:avLst/>
              <a:gdLst/>
              <a:ahLst/>
              <a:cxnLst/>
              <a:rect l="l" t="t" r="r" b="b"/>
              <a:pathLst>
                <a:path w="2606675" h="352107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3438359"/>
                  </a:lnTo>
                  <a:lnTo>
                    <a:pt x="719" y="3449125"/>
                  </a:lnTo>
                  <a:lnTo>
                    <a:pt x="729" y="3449281"/>
                  </a:lnTo>
                  <a:lnTo>
                    <a:pt x="2838" y="3459686"/>
                  </a:lnTo>
                  <a:lnTo>
                    <a:pt x="2874" y="3459865"/>
                  </a:lnTo>
                  <a:lnTo>
                    <a:pt x="6299" y="3469842"/>
                  </a:lnTo>
                  <a:lnTo>
                    <a:pt x="6370" y="3470047"/>
                  </a:lnTo>
                  <a:lnTo>
                    <a:pt x="11150" y="3479761"/>
                  </a:lnTo>
                  <a:lnTo>
                    <a:pt x="17036" y="3488420"/>
                  </a:lnTo>
                  <a:lnTo>
                    <a:pt x="17141" y="3488576"/>
                  </a:lnTo>
                  <a:lnTo>
                    <a:pt x="24245" y="3496583"/>
                  </a:lnTo>
                  <a:lnTo>
                    <a:pt x="61102" y="3517914"/>
                  </a:lnTo>
                  <a:lnTo>
                    <a:pt x="82435" y="3520795"/>
                  </a:lnTo>
                  <a:lnTo>
                    <a:pt x="2523959" y="3520795"/>
                  </a:lnTo>
                  <a:lnTo>
                    <a:pt x="2565361" y="3509632"/>
                  </a:lnTo>
                  <a:lnTo>
                    <a:pt x="2595232" y="3479393"/>
                  </a:lnTo>
                  <a:lnTo>
                    <a:pt x="2606395" y="3438359"/>
                  </a:lnTo>
                  <a:lnTo>
                    <a:pt x="2606371" y="82435"/>
                  </a:lnTo>
                  <a:lnTo>
                    <a:pt x="2595232" y="41389"/>
                  </a:lnTo>
                  <a:lnTo>
                    <a:pt x="2564993" y="11518"/>
                  </a:lnTo>
                  <a:lnTo>
                    <a:pt x="25239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143999" y="2194560"/>
              <a:ext cx="2606040" cy="502920"/>
            </a:xfrm>
            <a:custGeom>
              <a:avLst/>
              <a:gdLst/>
              <a:ahLst/>
              <a:cxnLst/>
              <a:rect l="l" t="t" r="r" b="b"/>
              <a:pathLst>
                <a:path w="2606040" h="502919">
                  <a:moveTo>
                    <a:pt x="2605684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1302842" y="502564"/>
                  </a:lnTo>
                  <a:lnTo>
                    <a:pt x="2605684" y="502564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3C59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0161257" y="2326576"/>
            <a:ext cx="570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5" b="1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4184" y="2912523"/>
            <a:ext cx="2019300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dirty="0" sz="1100" spc="-20">
                <a:solidFill>
                  <a:srgbClr val="221A3C"/>
                </a:solidFill>
                <a:latin typeface="Calibri"/>
                <a:cs typeface="Calibri"/>
              </a:rPr>
              <a:t>4-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frame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clips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synthesized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the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still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image</a:t>
            </a:r>
            <a:r>
              <a:rPr dirty="0" sz="1100" spc="-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with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smooth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pan</a:t>
            </a:r>
            <a:r>
              <a:rPr dirty="0" sz="1100" spc="-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221A3C"/>
                </a:solidFill>
                <a:latin typeface="Calibri"/>
                <a:cs typeface="Calibri"/>
              </a:rPr>
              <a:t>/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 zoom</a:t>
            </a:r>
            <a:r>
              <a:rPr dirty="0" sz="110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/</a:t>
            </a:r>
            <a:r>
              <a:rPr dirty="0" sz="11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rotation</a:t>
            </a:r>
            <a:r>
              <a:rPr dirty="0" sz="110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trajectory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1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giving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genuine</a:t>
            </a:r>
            <a:r>
              <a:rPr dirty="0" sz="11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frame-to-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frame</a:t>
            </a:r>
            <a:r>
              <a:rPr dirty="0" sz="1100" spc="-4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continuity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rather</a:t>
            </a:r>
            <a:r>
              <a:rPr dirty="0" sz="110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than</a:t>
            </a:r>
            <a:r>
              <a:rPr dirty="0" sz="110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repeated</a:t>
            </a:r>
            <a:r>
              <a:rPr dirty="0" sz="110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1A3C"/>
                </a:solidFill>
                <a:latin typeface="Calibri"/>
                <a:cs typeface="Calibri"/>
              </a:rPr>
              <a:t>static</a:t>
            </a:r>
            <a:r>
              <a:rPr dirty="0" sz="1100" spc="-4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1A3C"/>
                </a:solidFill>
                <a:latin typeface="Calibri"/>
                <a:cs typeface="Calibri"/>
              </a:rPr>
              <a:t>frames.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9356" y="5897155"/>
            <a:ext cx="10881995" cy="549275"/>
          </a:xfrm>
          <a:custGeom>
            <a:avLst/>
            <a:gdLst/>
            <a:ahLst/>
            <a:cxnLst/>
            <a:rect l="l" t="t" r="r" b="b"/>
            <a:pathLst>
              <a:path w="10881995" h="549275">
                <a:moveTo>
                  <a:pt x="64439" y="0"/>
                </a:moveTo>
                <a:lnTo>
                  <a:pt x="25402" y="13364"/>
                </a:lnTo>
                <a:lnTo>
                  <a:pt x="2524" y="47520"/>
                </a:lnTo>
                <a:lnTo>
                  <a:pt x="0" y="484924"/>
                </a:lnTo>
                <a:lnTo>
                  <a:pt x="540" y="493272"/>
                </a:lnTo>
                <a:lnTo>
                  <a:pt x="18743" y="530148"/>
                </a:lnTo>
                <a:lnTo>
                  <a:pt x="18859" y="530282"/>
                </a:lnTo>
                <a:lnTo>
                  <a:pt x="55734" y="548467"/>
                </a:lnTo>
                <a:lnTo>
                  <a:pt x="64084" y="549008"/>
                </a:lnTo>
                <a:lnTo>
                  <a:pt x="10817644" y="549008"/>
                </a:lnTo>
                <a:lnTo>
                  <a:pt x="10856681" y="535643"/>
                </a:lnTo>
                <a:lnTo>
                  <a:pt x="10879566" y="501483"/>
                </a:lnTo>
                <a:lnTo>
                  <a:pt x="10881728" y="484924"/>
                </a:lnTo>
                <a:lnTo>
                  <a:pt x="10881705" y="64084"/>
                </a:lnTo>
                <a:lnTo>
                  <a:pt x="10868363" y="25402"/>
                </a:lnTo>
                <a:lnTo>
                  <a:pt x="10834203" y="2524"/>
                </a:lnTo>
                <a:lnTo>
                  <a:pt x="10817644" y="368"/>
                </a:lnTo>
                <a:lnTo>
                  <a:pt x="64439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99896" y="6071298"/>
            <a:ext cx="74180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10,000</a:t>
            </a:r>
            <a:r>
              <a:rPr dirty="0" sz="1150" spc="-3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test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samples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×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4</a:t>
            </a:r>
            <a:r>
              <a:rPr dirty="0" sz="1150" spc="-3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modalities</a:t>
            </a:r>
            <a:r>
              <a:rPr dirty="0" sz="1150" spc="-1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encoded</a:t>
            </a:r>
            <a:r>
              <a:rPr dirty="0" sz="1150" spc="-1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for</a:t>
            </a:r>
            <a:r>
              <a:rPr dirty="0" sz="1150" spc="-1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evaluation</a:t>
            </a:r>
            <a:r>
              <a:rPr dirty="0" sz="1150" spc="21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•</a:t>
            </a:r>
            <a:r>
              <a:rPr dirty="0" sz="1150" spc="22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D8D3EE"/>
                </a:solidFill>
                <a:latin typeface="Calibri"/>
                <a:cs typeface="Calibri"/>
              </a:rPr>
              <a:t>vocabulary</a:t>
            </a:r>
            <a:r>
              <a:rPr dirty="0" sz="1150" spc="-3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built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only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from</a:t>
            </a:r>
            <a:r>
              <a:rPr dirty="0" sz="1150" spc="-2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the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caption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D8D3EE"/>
                </a:solidFill>
                <a:latin typeface="Calibri"/>
                <a:cs typeface="Calibri"/>
              </a:rPr>
              <a:t>templates</a:t>
            </a:r>
            <a:r>
              <a:rPr dirty="0" sz="1150" spc="-3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+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D8D3EE"/>
                </a:solidFill>
                <a:latin typeface="Calibri"/>
                <a:cs typeface="Calibri"/>
              </a:rPr>
              <a:t>class</a:t>
            </a:r>
            <a:r>
              <a:rPr dirty="0" sz="11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D8D3EE"/>
                </a:solidFill>
                <a:latin typeface="Calibri"/>
                <a:cs typeface="Calibri"/>
              </a:rPr>
              <a:t>names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3110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4</a:t>
            </a:r>
            <a:r>
              <a:rPr dirty="0" sz="1200" spc="3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E4C6"/>
                </a:solidFill>
                <a:latin typeface="Calibri"/>
                <a:cs typeface="Calibri"/>
              </a:rPr>
              <a:t>M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H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D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—</a:t>
            </a:r>
            <a:r>
              <a:rPr dirty="0" sz="12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E4C6"/>
                </a:solidFill>
                <a:latin typeface="Calibri"/>
                <a:cs typeface="Calibri"/>
              </a:rPr>
              <a:t>M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O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L</a:t>
            </a:r>
            <a:r>
              <a:rPr dirty="0" sz="1200" spc="4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&amp;</a:t>
            </a:r>
            <a:r>
              <a:rPr dirty="0" sz="1200" spc="40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P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P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L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dirty="0" spc="-50"/>
              <a:t> </a:t>
            </a:r>
            <a:r>
              <a:rPr dirty="0" spc="95"/>
              <a:t>shared</a:t>
            </a:r>
            <a:r>
              <a:rPr dirty="0" spc="-30"/>
              <a:t> </a:t>
            </a:r>
            <a:r>
              <a:rPr dirty="0"/>
              <a:t>encoder,</a:t>
            </a:r>
            <a:r>
              <a:rPr dirty="0" spc="-45"/>
              <a:t> </a:t>
            </a:r>
            <a:r>
              <a:rPr dirty="0" spc="65"/>
              <a:t>four</a:t>
            </a:r>
            <a:r>
              <a:rPr dirty="0" spc="-35"/>
              <a:t> </a:t>
            </a:r>
            <a:r>
              <a:rPr dirty="0" spc="75"/>
              <a:t>modality-</a:t>
            </a:r>
            <a:r>
              <a:rPr dirty="0" spc="65"/>
              <a:t>specific</a:t>
            </a:r>
            <a:r>
              <a:rPr dirty="0" spc="-40"/>
              <a:t> </a:t>
            </a:r>
            <a:r>
              <a:rPr dirty="0" spc="60"/>
              <a:t>doors</a:t>
            </a:r>
          </a:p>
        </p:txBody>
      </p:sp>
      <p:sp>
        <p:nvSpPr>
          <p:cNvPr id="4" name="object 4"/>
          <p:cNvSpPr/>
          <p:nvPr/>
        </p:nvSpPr>
        <p:spPr>
          <a:xfrm>
            <a:off x="640080" y="1874520"/>
            <a:ext cx="1965960" cy="1051560"/>
          </a:xfrm>
          <a:custGeom>
            <a:avLst/>
            <a:gdLst/>
            <a:ahLst/>
            <a:cxnLst/>
            <a:rect l="l" t="t" r="r" b="b"/>
            <a:pathLst>
              <a:path w="1965960" h="1051560">
                <a:moveTo>
                  <a:pt x="189251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978484"/>
                </a:lnTo>
                <a:lnTo>
                  <a:pt x="594" y="987755"/>
                </a:lnTo>
                <a:lnTo>
                  <a:pt x="607" y="987960"/>
                </a:lnTo>
                <a:lnTo>
                  <a:pt x="2394" y="997156"/>
                </a:lnTo>
                <a:lnTo>
                  <a:pt x="2428" y="997335"/>
                </a:lnTo>
                <a:lnTo>
                  <a:pt x="5412" y="1006219"/>
                </a:lnTo>
                <a:lnTo>
                  <a:pt x="5464" y="1006375"/>
                </a:lnTo>
                <a:lnTo>
                  <a:pt x="9715" y="1014844"/>
                </a:lnTo>
                <a:lnTo>
                  <a:pt x="44984" y="1046095"/>
                </a:lnTo>
                <a:lnTo>
                  <a:pt x="73075" y="1051559"/>
                </a:lnTo>
                <a:lnTo>
                  <a:pt x="1892884" y="1051204"/>
                </a:lnTo>
                <a:lnTo>
                  <a:pt x="1937254" y="1036100"/>
                </a:lnTo>
                <a:lnTo>
                  <a:pt x="1963471" y="997335"/>
                </a:lnTo>
                <a:lnTo>
                  <a:pt x="1963531" y="997156"/>
                </a:lnTo>
                <a:lnTo>
                  <a:pt x="1965312" y="987960"/>
                </a:lnTo>
                <a:lnTo>
                  <a:pt x="1965352" y="987755"/>
                </a:lnTo>
                <a:lnTo>
                  <a:pt x="1965936" y="978484"/>
                </a:lnTo>
                <a:lnTo>
                  <a:pt x="1965604" y="73075"/>
                </a:lnTo>
                <a:lnTo>
                  <a:pt x="1950500" y="28705"/>
                </a:lnTo>
                <a:lnTo>
                  <a:pt x="1911556" y="2428"/>
                </a:lnTo>
                <a:lnTo>
                  <a:pt x="1902155" y="607"/>
                </a:lnTo>
                <a:lnTo>
                  <a:pt x="1892515" y="0"/>
                </a:lnTo>
                <a:close/>
              </a:path>
            </a:pathLst>
          </a:custGeom>
          <a:solidFill>
            <a:srgbClr val="5A4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4503" y="1983143"/>
            <a:ext cx="1275080" cy="82105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 marL="283210" marR="274320">
              <a:lnSpc>
                <a:spcPts val="1400"/>
              </a:lnSpc>
              <a:spcBef>
                <a:spcPts val="28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Modality </a:t>
            </a:r>
            <a:r>
              <a:rPr dirty="0" sz="1300" spc="-30" b="1">
                <a:solidFill>
                  <a:srgbClr val="FFFFFF"/>
                </a:solidFill>
                <a:latin typeface="Calibri"/>
                <a:cs typeface="Calibri"/>
              </a:rPr>
              <a:t>Tokenizers</a:t>
            </a:r>
            <a:endParaRPr sz="1300">
              <a:latin typeface="Calibri"/>
              <a:cs typeface="Calibri"/>
            </a:endParaRPr>
          </a:p>
          <a:p>
            <a:pPr algn="ctr" marL="12065" marR="5080">
              <a:lnSpc>
                <a:spcPts val="1100"/>
              </a:lnSpc>
              <a:spcBef>
                <a:spcPts val="1110"/>
              </a:spcBef>
            </a:pP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CNN</a:t>
            </a:r>
            <a:r>
              <a:rPr dirty="0" sz="950" spc="-40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3DFF4"/>
                </a:solidFill>
                <a:latin typeface="Calibri"/>
                <a:cs typeface="Calibri"/>
              </a:rPr>
              <a:t>(image/audio/video) </a:t>
            </a: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GRU</a:t>
            </a:r>
            <a:r>
              <a:rPr dirty="0" sz="950" spc="-25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3DFF4"/>
                </a:solidFill>
                <a:latin typeface="Calibri"/>
                <a:cs typeface="Calibri"/>
              </a:rPr>
              <a:t>(text)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26079" y="1874520"/>
            <a:ext cx="1965960" cy="1051560"/>
          </a:xfrm>
          <a:custGeom>
            <a:avLst/>
            <a:gdLst/>
            <a:ahLst/>
            <a:cxnLst/>
            <a:rect l="l" t="t" r="r" b="b"/>
            <a:pathLst>
              <a:path w="1965960" h="1051560">
                <a:moveTo>
                  <a:pt x="189251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978484"/>
                </a:lnTo>
                <a:lnTo>
                  <a:pt x="594" y="987755"/>
                </a:lnTo>
                <a:lnTo>
                  <a:pt x="607" y="987960"/>
                </a:lnTo>
                <a:lnTo>
                  <a:pt x="2394" y="997156"/>
                </a:lnTo>
                <a:lnTo>
                  <a:pt x="2428" y="997335"/>
                </a:lnTo>
                <a:lnTo>
                  <a:pt x="5412" y="1006219"/>
                </a:lnTo>
                <a:lnTo>
                  <a:pt x="5464" y="1006375"/>
                </a:lnTo>
                <a:lnTo>
                  <a:pt x="9715" y="1014844"/>
                </a:lnTo>
                <a:lnTo>
                  <a:pt x="44984" y="1046095"/>
                </a:lnTo>
                <a:lnTo>
                  <a:pt x="73075" y="1051559"/>
                </a:lnTo>
                <a:lnTo>
                  <a:pt x="1892884" y="1051204"/>
                </a:lnTo>
                <a:lnTo>
                  <a:pt x="1937254" y="1036100"/>
                </a:lnTo>
                <a:lnTo>
                  <a:pt x="1963471" y="997335"/>
                </a:lnTo>
                <a:lnTo>
                  <a:pt x="1963531" y="997156"/>
                </a:lnTo>
                <a:lnTo>
                  <a:pt x="1965312" y="987960"/>
                </a:lnTo>
                <a:lnTo>
                  <a:pt x="1965352" y="987755"/>
                </a:lnTo>
                <a:lnTo>
                  <a:pt x="1965936" y="978484"/>
                </a:lnTo>
                <a:lnTo>
                  <a:pt x="1965959" y="978115"/>
                </a:lnTo>
                <a:lnTo>
                  <a:pt x="1965604" y="73075"/>
                </a:lnTo>
                <a:lnTo>
                  <a:pt x="1950500" y="28705"/>
                </a:lnTo>
                <a:lnTo>
                  <a:pt x="1911556" y="2428"/>
                </a:lnTo>
                <a:lnTo>
                  <a:pt x="1902155" y="607"/>
                </a:lnTo>
                <a:lnTo>
                  <a:pt x="1892515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14496" y="1983143"/>
            <a:ext cx="988694" cy="82105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 marL="12065" marR="5080">
              <a:lnSpc>
                <a:spcPts val="1400"/>
              </a:lnSpc>
              <a:spcBef>
                <a:spcPts val="28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Shared Encoder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(VAE)</a:t>
            </a:r>
            <a:endParaRPr sz="1300">
              <a:latin typeface="Calibri"/>
              <a:cs typeface="Calibri"/>
            </a:endParaRPr>
          </a:p>
          <a:p>
            <a:pPr algn="ctr" marL="102870" marR="96520" indent="635">
              <a:lnSpc>
                <a:spcPts val="1100"/>
              </a:lnSpc>
              <a:spcBef>
                <a:spcPts val="1110"/>
              </a:spcBef>
            </a:pP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μ,</a:t>
            </a:r>
            <a:r>
              <a:rPr dirty="0" sz="950" spc="-25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logσ²</a:t>
            </a:r>
            <a:r>
              <a:rPr dirty="0" sz="950" spc="-15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→</a:t>
            </a:r>
            <a:r>
              <a:rPr dirty="0" sz="950" spc="-30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E3DFF4"/>
                </a:solidFill>
                <a:latin typeface="Calibri"/>
                <a:cs typeface="Calibri"/>
              </a:rPr>
              <a:t>z</a:t>
            </a:r>
            <a:r>
              <a:rPr dirty="0" sz="950" spc="-10">
                <a:solidFill>
                  <a:srgbClr val="E3DFF4"/>
                </a:solidFill>
                <a:latin typeface="Calibri"/>
                <a:cs typeface="Calibri"/>
              </a:rPr>
              <a:t> (latent</a:t>
            </a:r>
            <a:r>
              <a:rPr dirty="0" sz="950" spc="-5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3DFF4"/>
                </a:solidFill>
                <a:latin typeface="Calibri"/>
                <a:cs typeface="Calibri"/>
              </a:rPr>
              <a:t>dim</a:t>
            </a:r>
            <a:r>
              <a:rPr dirty="0" sz="950" spc="-10">
                <a:solidFill>
                  <a:srgbClr val="E3DFF4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3DFF4"/>
                </a:solidFill>
                <a:latin typeface="Calibri"/>
                <a:cs typeface="Calibri"/>
              </a:rPr>
              <a:t>128)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7404" y="2308682"/>
            <a:ext cx="274320" cy="182880"/>
          </a:xfrm>
          <a:custGeom>
            <a:avLst/>
            <a:gdLst/>
            <a:ahLst/>
            <a:cxnLst/>
            <a:rect l="l" t="t" r="r" b="b"/>
            <a:pathLst>
              <a:path w="274320" h="182880">
                <a:moveTo>
                  <a:pt x="182880" y="0"/>
                </a:moveTo>
                <a:lnTo>
                  <a:pt x="182880" y="45720"/>
                </a:lnTo>
                <a:lnTo>
                  <a:pt x="0" y="45720"/>
                </a:lnTo>
                <a:lnTo>
                  <a:pt x="0" y="137160"/>
                </a:lnTo>
                <a:lnTo>
                  <a:pt x="182880" y="137160"/>
                </a:lnTo>
                <a:lnTo>
                  <a:pt x="182880" y="182879"/>
                </a:lnTo>
                <a:lnTo>
                  <a:pt x="274320" y="91439"/>
                </a:lnTo>
                <a:lnTo>
                  <a:pt x="182880" y="0"/>
                </a:lnTo>
                <a:close/>
              </a:path>
            </a:pathLst>
          </a:custGeom>
          <a:solidFill>
            <a:srgbClr val="6D64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57800" y="1737360"/>
            <a:ext cx="1051560" cy="1325880"/>
          </a:xfrm>
          <a:custGeom>
            <a:avLst/>
            <a:gdLst/>
            <a:ahLst/>
            <a:cxnLst/>
            <a:rect l="l" t="t" r="r" b="b"/>
            <a:pathLst>
              <a:path w="1051560" h="1325880">
                <a:moveTo>
                  <a:pt x="525957" y="0"/>
                </a:moveTo>
                <a:lnTo>
                  <a:pt x="479889" y="2534"/>
                </a:lnTo>
                <a:lnTo>
                  <a:pt x="434372" y="10078"/>
                </a:lnTo>
                <a:lnTo>
                  <a:pt x="389655" y="22542"/>
                </a:lnTo>
                <a:lnTo>
                  <a:pt x="345987" y="39836"/>
                </a:lnTo>
                <a:lnTo>
                  <a:pt x="303619" y="61871"/>
                </a:lnTo>
                <a:lnTo>
                  <a:pt x="262801" y="88557"/>
                </a:lnTo>
                <a:lnTo>
                  <a:pt x="224010" y="119780"/>
                </a:lnTo>
                <a:lnTo>
                  <a:pt x="187679" y="154984"/>
                </a:lnTo>
                <a:lnTo>
                  <a:pt x="153989" y="193949"/>
                </a:lnTo>
                <a:lnTo>
                  <a:pt x="123118" y="236454"/>
                </a:lnTo>
                <a:lnTo>
                  <a:pt x="95249" y="282279"/>
                </a:lnTo>
                <a:lnTo>
                  <a:pt x="70561" y="331203"/>
                </a:lnTo>
                <a:lnTo>
                  <a:pt x="52028" y="375206"/>
                </a:lnTo>
                <a:lnTo>
                  <a:pt x="36261" y="420675"/>
                </a:lnTo>
                <a:lnTo>
                  <a:pt x="23290" y="467405"/>
                </a:lnTo>
                <a:lnTo>
                  <a:pt x="13148" y="515186"/>
                </a:lnTo>
                <a:lnTo>
                  <a:pt x="5864" y="563811"/>
                </a:lnTo>
                <a:lnTo>
                  <a:pt x="1471" y="613072"/>
                </a:lnTo>
                <a:lnTo>
                  <a:pt x="0" y="662762"/>
                </a:lnTo>
                <a:lnTo>
                  <a:pt x="1471" y="712451"/>
                </a:lnTo>
                <a:lnTo>
                  <a:pt x="5864" y="761713"/>
                </a:lnTo>
                <a:lnTo>
                  <a:pt x="13148" y="810338"/>
                </a:lnTo>
                <a:lnTo>
                  <a:pt x="23290" y="858119"/>
                </a:lnTo>
                <a:lnTo>
                  <a:pt x="36261" y="904848"/>
                </a:lnTo>
                <a:lnTo>
                  <a:pt x="52028" y="950318"/>
                </a:lnTo>
                <a:lnTo>
                  <a:pt x="70561" y="994321"/>
                </a:lnTo>
                <a:lnTo>
                  <a:pt x="95249" y="1043244"/>
                </a:lnTo>
                <a:lnTo>
                  <a:pt x="123118" y="1089066"/>
                </a:lnTo>
                <a:lnTo>
                  <a:pt x="153989" y="1131568"/>
                </a:lnTo>
                <a:lnTo>
                  <a:pt x="187679" y="1170530"/>
                </a:lnTo>
                <a:lnTo>
                  <a:pt x="224010" y="1205732"/>
                </a:lnTo>
                <a:lnTo>
                  <a:pt x="262801" y="1236954"/>
                </a:lnTo>
                <a:lnTo>
                  <a:pt x="303619" y="1263667"/>
                </a:lnTo>
                <a:lnTo>
                  <a:pt x="345987" y="1285770"/>
                </a:lnTo>
                <a:lnTo>
                  <a:pt x="389655" y="1303153"/>
                </a:lnTo>
                <a:lnTo>
                  <a:pt x="434372" y="1315705"/>
                </a:lnTo>
                <a:lnTo>
                  <a:pt x="479889" y="1323318"/>
                </a:lnTo>
                <a:lnTo>
                  <a:pt x="525957" y="1325879"/>
                </a:lnTo>
                <a:lnTo>
                  <a:pt x="571875" y="1323318"/>
                </a:lnTo>
                <a:lnTo>
                  <a:pt x="617292" y="1315705"/>
                </a:lnTo>
                <a:lnTo>
                  <a:pt x="661949" y="1303153"/>
                </a:lnTo>
                <a:lnTo>
                  <a:pt x="705585" y="1285770"/>
                </a:lnTo>
                <a:lnTo>
                  <a:pt x="747942" y="1263667"/>
                </a:lnTo>
                <a:lnTo>
                  <a:pt x="788758" y="1236954"/>
                </a:lnTo>
                <a:lnTo>
                  <a:pt x="827549" y="1205732"/>
                </a:lnTo>
                <a:lnTo>
                  <a:pt x="863880" y="1170530"/>
                </a:lnTo>
                <a:lnTo>
                  <a:pt x="897570" y="1131568"/>
                </a:lnTo>
                <a:lnTo>
                  <a:pt x="928441" y="1089066"/>
                </a:lnTo>
                <a:lnTo>
                  <a:pt x="956310" y="1043244"/>
                </a:lnTo>
                <a:lnTo>
                  <a:pt x="980998" y="994321"/>
                </a:lnTo>
                <a:lnTo>
                  <a:pt x="999531" y="950318"/>
                </a:lnTo>
                <a:lnTo>
                  <a:pt x="1015298" y="904848"/>
                </a:lnTo>
                <a:lnTo>
                  <a:pt x="1028269" y="858119"/>
                </a:lnTo>
                <a:lnTo>
                  <a:pt x="1038411" y="810338"/>
                </a:lnTo>
                <a:lnTo>
                  <a:pt x="1045695" y="761713"/>
                </a:lnTo>
                <a:lnTo>
                  <a:pt x="1050088" y="712451"/>
                </a:lnTo>
                <a:lnTo>
                  <a:pt x="1051560" y="662762"/>
                </a:lnTo>
                <a:lnTo>
                  <a:pt x="1050088" y="613072"/>
                </a:lnTo>
                <a:lnTo>
                  <a:pt x="1045695" y="563811"/>
                </a:lnTo>
                <a:lnTo>
                  <a:pt x="1038411" y="515186"/>
                </a:lnTo>
                <a:lnTo>
                  <a:pt x="1028269" y="467405"/>
                </a:lnTo>
                <a:lnTo>
                  <a:pt x="1015298" y="420675"/>
                </a:lnTo>
                <a:lnTo>
                  <a:pt x="999531" y="375206"/>
                </a:lnTo>
                <a:lnTo>
                  <a:pt x="980998" y="331203"/>
                </a:lnTo>
                <a:lnTo>
                  <a:pt x="956310" y="282279"/>
                </a:lnTo>
                <a:lnTo>
                  <a:pt x="928441" y="236454"/>
                </a:lnTo>
                <a:lnTo>
                  <a:pt x="897570" y="193949"/>
                </a:lnTo>
                <a:lnTo>
                  <a:pt x="863880" y="154984"/>
                </a:lnTo>
                <a:lnTo>
                  <a:pt x="827549" y="119780"/>
                </a:lnTo>
                <a:lnTo>
                  <a:pt x="788758" y="88557"/>
                </a:lnTo>
                <a:lnTo>
                  <a:pt x="747942" y="61871"/>
                </a:lnTo>
                <a:lnTo>
                  <a:pt x="705585" y="39836"/>
                </a:lnTo>
                <a:lnTo>
                  <a:pt x="661949" y="22542"/>
                </a:lnTo>
                <a:lnTo>
                  <a:pt x="617292" y="10078"/>
                </a:lnTo>
                <a:lnTo>
                  <a:pt x="571875" y="2534"/>
                </a:lnTo>
                <a:lnTo>
                  <a:pt x="525957" y="0"/>
                </a:lnTo>
                <a:close/>
              </a:path>
            </a:pathLst>
          </a:custGeom>
          <a:solidFill>
            <a:srgbClr val="00E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93664" y="2189416"/>
            <a:ext cx="1803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0" b="1" i="1">
                <a:solidFill>
                  <a:srgbClr val="1A0F34"/>
                </a:solidFill>
                <a:latin typeface="Cambria"/>
                <a:cs typeface="Cambria"/>
              </a:rPr>
              <a:t>z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28676" y="1554124"/>
            <a:ext cx="1200785" cy="686435"/>
          </a:xfrm>
          <a:custGeom>
            <a:avLst/>
            <a:gdLst/>
            <a:ahLst/>
            <a:cxnLst/>
            <a:rect l="l" t="t" r="r" b="b"/>
            <a:pathLst>
              <a:path w="1200784" h="686435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622071"/>
                </a:lnTo>
                <a:lnTo>
                  <a:pt x="540" y="630421"/>
                </a:lnTo>
                <a:lnTo>
                  <a:pt x="18743" y="667302"/>
                </a:lnTo>
                <a:lnTo>
                  <a:pt x="18859" y="667435"/>
                </a:lnTo>
                <a:lnTo>
                  <a:pt x="55734" y="685615"/>
                </a:lnTo>
                <a:lnTo>
                  <a:pt x="64084" y="686155"/>
                </a:lnTo>
                <a:lnTo>
                  <a:pt x="1136523" y="686155"/>
                </a:lnTo>
                <a:lnTo>
                  <a:pt x="1175560" y="672797"/>
                </a:lnTo>
                <a:lnTo>
                  <a:pt x="1198445" y="638635"/>
                </a:lnTo>
                <a:lnTo>
                  <a:pt x="1200607" y="622071"/>
                </a:lnTo>
                <a:lnTo>
                  <a:pt x="1200583" y="64071"/>
                </a:lnTo>
                <a:lnTo>
                  <a:pt x="1187242" y="25397"/>
                </a:lnTo>
                <a:lnTo>
                  <a:pt x="1153086" y="2516"/>
                </a:lnTo>
                <a:lnTo>
                  <a:pt x="1136523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5A4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42061" y="1647977"/>
            <a:ext cx="7734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dirty="0" sz="95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Decoder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29044" y="2377439"/>
            <a:ext cx="1200785" cy="868680"/>
          </a:xfrm>
          <a:custGeom>
            <a:avLst/>
            <a:gdLst/>
            <a:ahLst/>
            <a:cxnLst/>
            <a:rect l="l" t="t" r="r" b="b"/>
            <a:pathLst>
              <a:path w="1200784" h="868680">
                <a:moveTo>
                  <a:pt x="1145159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1" y="21422"/>
                </a:lnTo>
                <a:lnTo>
                  <a:pt x="0" y="54724"/>
                </a:lnTo>
                <a:lnTo>
                  <a:pt x="0" y="813955"/>
                </a:lnTo>
                <a:lnTo>
                  <a:pt x="452" y="820808"/>
                </a:lnTo>
                <a:lnTo>
                  <a:pt x="466" y="821016"/>
                </a:lnTo>
                <a:lnTo>
                  <a:pt x="1798" y="827816"/>
                </a:lnTo>
                <a:lnTo>
                  <a:pt x="1843" y="828044"/>
                </a:lnTo>
                <a:lnTo>
                  <a:pt x="3994" y="834554"/>
                </a:lnTo>
                <a:lnTo>
                  <a:pt x="4098" y="834870"/>
                </a:lnTo>
                <a:lnTo>
                  <a:pt x="33757" y="864581"/>
                </a:lnTo>
                <a:lnTo>
                  <a:pt x="48065" y="868324"/>
                </a:lnTo>
                <a:lnTo>
                  <a:pt x="49212" y="868324"/>
                </a:lnTo>
                <a:lnTo>
                  <a:pt x="54711" y="868680"/>
                </a:lnTo>
                <a:lnTo>
                  <a:pt x="1145514" y="868324"/>
                </a:lnTo>
                <a:lnTo>
                  <a:pt x="1184168" y="852387"/>
                </a:lnTo>
                <a:lnTo>
                  <a:pt x="1200215" y="813955"/>
                </a:lnTo>
                <a:lnTo>
                  <a:pt x="1200238" y="813600"/>
                </a:lnTo>
                <a:lnTo>
                  <a:pt x="1199870" y="54724"/>
                </a:lnTo>
                <a:lnTo>
                  <a:pt x="1183944" y="16063"/>
                </a:lnTo>
                <a:lnTo>
                  <a:pt x="1152367" y="466"/>
                </a:lnTo>
                <a:lnTo>
                  <a:pt x="1145159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71944" y="2456179"/>
            <a:ext cx="714375" cy="424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02800"/>
              </a:lnSpc>
              <a:spcBef>
                <a:spcPts val="90"/>
              </a:spcBef>
            </a:pP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Reconstructs</a:t>
            </a:r>
            <a:r>
              <a:rPr dirty="0" sz="85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image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/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audio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221A3C"/>
                </a:solidFill>
                <a:latin typeface="Calibri"/>
                <a:cs typeface="Calibri"/>
              </a:rPr>
              <a:t>/</a:t>
            </a:r>
            <a:r>
              <a:rPr dirty="0" sz="85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video</a:t>
            </a:r>
            <a:r>
              <a:rPr dirty="0" sz="850" spc="1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frame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66075" y="1554124"/>
            <a:ext cx="1200785" cy="686435"/>
          </a:xfrm>
          <a:custGeom>
            <a:avLst/>
            <a:gdLst/>
            <a:ahLst/>
            <a:cxnLst/>
            <a:rect l="l" t="t" r="r" b="b"/>
            <a:pathLst>
              <a:path w="1200784" h="686435">
                <a:moveTo>
                  <a:pt x="64439" y="0"/>
                </a:moveTo>
                <a:lnTo>
                  <a:pt x="25408" y="13357"/>
                </a:lnTo>
                <a:lnTo>
                  <a:pt x="2528" y="47517"/>
                </a:lnTo>
                <a:lnTo>
                  <a:pt x="0" y="622071"/>
                </a:lnTo>
                <a:lnTo>
                  <a:pt x="540" y="630421"/>
                </a:lnTo>
                <a:lnTo>
                  <a:pt x="18743" y="667302"/>
                </a:lnTo>
                <a:lnTo>
                  <a:pt x="18859" y="667435"/>
                </a:lnTo>
                <a:lnTo>
                  <a:pt x="55736" y="685615"/>
                </a:lnTo>
                <a:lnTo>
                  <a:pt x="64084" y="686155"/>
                </a:lnTo>
                <a:lnTo>
                  <a:pt x="1136523" y="686155"/>
                </a:lnTo>
                <a:lnTo>
                  <a:pt x="1175560" y="672797"/>
                </a:lnTo>
                <a:lnTo>
                  <a:pt x="1198446" y="638635"/>
                </a:lnTo>
                <a:lnTo>
                  <a:pt x="1200607" y="622071"/>
                </a:lnTo>
                <a:lnTo>
                  <a:pt x="1200583" y="64071"/>
                </a:lnTo>
                <a:lnTo>
                  <a:pt x="1187247" y="25397"/>
                </a:lnTo>
                <a:lnTo>
                  <a:pt x="1153086" y="2516"/>
                </a:lnTo>
                <a:lnTo>
                  <a:pt x="1136523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DF79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228063" y="1647977"/>
            <a:ext cx="6756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 b="1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dirty="0" sz="9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Decoder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66443" y="2377439"/>
            <a:ext cx="1200785" cy="868680"/>
          </a:xfrm>
          <a:custGeom>
            <a:avLst/>
            <a:gdLst/>
            <a:ahLst/>
            <a:cxnLst/>
            <a:rect l="l" t="t" r="r" b="b"/>
            <a:pathLst>
              <a:path w="1200784" h="868680">
                <a:moveTo>
                  <a:pt x="1145158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7" y="21422"/>
                </a:lnTo>
                <a:lnTo>
                  <a:pt x="0" y="54724"/>
                </a:lnTo>
                <a:lnTo>
                  <a:pt x="0" y="813955"/>
                </a:lnTo>
                <a:lnTo>
                  <a:pt x="452" y="820808"/>
                </a:lnTo>
                <a:lnTo>
                  <a:pt x="466" y="821016"/>
                </a:lnTo>
                <a:lnTo>
                  <a:pt x="1798" y="827816"/>
                </a:lnTo>
                <a:lnTo>
                  <a:pt x="1843" y="828044"/>
                </a:lnTo>
                <a:lnTo>
                  <a:pt x="3994" y="834554"/>
                </a:lnTo>
                <a:lnTo>
                  <a:pt x="4098" y="834870"/>
                </a:lnTo>
                <a:lnTo>
                  <a:pt x="33757" y="864581"/>
                </a:lnTo>
                <a:lnTo>
                  <a:pt x="48065" y="868324"/>
                </a:lnTo>
                <a:lnTo>
                  <a:pt x="49212" y="868324"/>
                </a:lnTo>
                <a:lnTo>
                  <a:pt x="54711" y="868680"/>
                </a:lnTo>
                <a:lnTo>
                  <a:pt x="1145514" y="868324"/>
                </a:lnTo>
                <a:lnTo>
                  <a:pt x="1184168" y="852387"/>
                </a:lnTo>
                <a:lnTo>
                  <a:pt x="1198314" y="828044"/>
                </a:lnTo>
                <a:lnTo>
                  <a:pt x="1198391" y="827816"/>
                </a:lnTo>
                <a:lnTo>
                  <a:pt x="1199730" y="821016"/>
                </a:lnTo>
                <a:lnTo>
                  <a:pt x="1199770" y="820808"/>
                </a:lnTo>
                <a:lnTo>
                  <a:pt x="1200215" y="813955"/>
                </a:lnTo>
                <a:lnTo>
                  <a:pt x="1200238" y="813600"/>
                </a:lnTo>
                <a:lnTo>
                  <a:pt x="1199870" y="54724"/>
                </a:lnTo>
                <a:lnTo>
                  <a:pt x="1183946" y="16063"/>
                </a:lnTo>
                <a:lnTo>
                  <a:pt x="1152367" y="466"/>
                </a:lnTo>
                <a:lnTo>
                  <a:pt x="1145158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09343" y="2456179"/>
            <a:ext cx="714375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255">
              <a:lnSpc>
                <a:spcPct val="102800"/>
              </a:lnSpc>
              <a:spcBef>
                <a:spcPts val="90"/>
              </a:spcBef>
            </a:pP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Autoregressive</a:t>
            </a:r>
            <a:r>
              <a:rPr dirty="0" sz="85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GRU</a:t>
            </a:r>
            <a:r>
              <a:rPr dirty="0" sz="850" spc="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→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caption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03473" y="1554124"/>
            <a:ext cx="1200785" cy="686435"/>
          </a:xfrm>
          <a:custGeom>
            <a:avLst/>
            <a:gdLst/>
            <a:ahLst/>
            <a:cxnLst/>
            <a:rect l="l" t="t" r="r" b="b"/>
            <a:pathLst>
              <a:path w="1200784" h="686435">
                <a:moveTo>
                  <a:pt x="64439" y="0"/>
                </a:moveTo>
                <a:lnTo>
                  <a:pt x="25408" y="13357"/>
                </a:lnTo>
                <a:lnTo>
                  <a:pt x="2528" y="47517"/>
                </a:lnTo>
                <a:lnTo>
                  <a:pt x="0" y="622071"/>
                </a:lnTo>
                <a:lnTo>
                  <a:pt x="540" y="630421"/>
                </a:lnTo>
                <a:lnTo>
                  <a:pt x="18743" y="667302"/>
                </a:lnTo>
                <a:lnTo>
                  <a:pt x="18859" y="667435"/>
                </a:lnTo>
                <a:lnTo>
                  <a:pt x="55736" y="685615"/>
                </a:lnTo>
                <a:lnTo>
                  <a:pt x="64084" y="686155"/>
                </a:lnTo>
                <a:lnTo>
                  <a:pt x="1136523" y="686155"/>
                </a:lnTo>
                <a:lnTo>
                  <a:pt x="1175560" y="672797"/>
                </a:lnTo>
                <a:lnTo>
                  <a:pt x="1198446" y="638635"/>
                </a:lnTo>
                <a:lnTo>
                  <a:pt x="1200607" y="622071"/>
                </a:lnTo>
                <a:lnTo>
                  <a:pt x="1200583" y="64071"/>
                </a:lnTo>
                <a:lnTo>
                  <a:pt x="1187247" y="25397"/>
                </a:lnTo>
                <a:lnTo>
                  <a:pt x="1153086" y="2516"/>
                </a:lnTo>
                <a:lnTo>
                  <a:pt x="1136523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3C59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474022" y="1647977"/>
            <a:ext cx="8591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Dynamics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303842" y="2377439"/>
            <a:ext cx="1200785" cy="868680"/>
          </a:xfrm>
          <a:custGeom>
            <a:avLst/>
            <a:gdLst/>
            <a:ahLst/>
            <a:cxnLst/>
            <a:rect l="l" t="t" r="r" b="b"/>
            <a:pathLst>
              <a:path w="1200784" h="868680">
                <a:moveTo>
                  <a:pt x="1145158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7" y="21422"/>
                </a:lnTo>
                <a:lnTo>
                  <a:pt x="0" y="54724"/>
                </a:lnTo>
                <a:lnTo>
                  <a:pt x="0" y="813955"/>
                </a:lnTo>
                <a:lnTo>
                  <a:pt x="452" y="820808"/>
                </a:lnTo>
                <a:lnTo>
                  <a:pt x="466" y="821016"/>
                </a:lnTo>
                <a:lnTo>
                  <a:pt x="1798" y="827816"/>
                </a:lnTo>
                <a:lnTo>
                  <a:pt x="1843" y="828044"/>
                </a:lnTo>
                <a:lnTo>
                  <a:pt x="3994" y="834554"/>
                </a:lnTo>
                <a:lnTo>
                  <a:pt x="4098" y="834870"/>
                </a:lnTo>
                <a:lnTo>
                  <a:pt x="33757" y="864581"/>
                </a:lnTo>
                <a:lnTo>
                  <a:pt x="48065" y="868324"/>
                </a:lnTo>
                <a:lnTo>
                  <a:pt x="49212" y="868324"/>
                </a:lnTo>
                <a:lnTo>
                  <a:pt x="54711" y="868680"/>
                </a:lnTo>
                <a:lnTo>
                  <a:pt x="1145514" y="868324"/>
                </a:lnTo>
                <a:lnTo>
                  <a:pt x="1184174" y="852387"/>
                </a:lnTo>
                <a:lnTo>
                  <a:pt x="1200215" y="813955"/>
                </a:lnTo>
                <a:lnTo>
                  <a:pt x="1200238" y="813600"/>
                </a:lnTo>
                <a:lnTo>
                  <a:pt x="1199883" y="54724"/>
                </a:lnTo>
                <a:lnTo>
                  <a:pt x="1183946" y="16063"/>
                </a:lnTo>
                <a:lnTo>
                  <a:pt x="1152367" y="466"/>
                </a:lnTo>
                <a:lnTo>
                  <a:pt x="1145158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457461" y="2456179"/>
            <a:ext cx="892175" cy="2914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GRU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rolls</a:t>
            </a:r>
            <a:r>
              <a:rPr dirty="0" sz="85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z </a:t>
            </a: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forward</a:t>
            </a:r>
            <a:endParaRPr sz="8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850" spc="360">
                <a:solidFill>
                  <a:srgbClr val="221A3C"/>
                </a:solidFill>
                <a:latin typeface="Calibri"/>
                <a:cs typeface="Calibri"/>
              </a:rPr>
              <a:t>*</a:t>
            </a:r>
            <a:r>
              <a:rPr dirty="0" sz="85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future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221A3C"/>
                </a:solidFill>
                <a:latin typeface="Calibri"/>
                <a:cs typeface="Calibri"/>
              </a:rPr>
              <a:t>states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640517" y="1554124"/>
            <a:ext cx="1200785" cy="686435"/>
          </a:xfrm>
          <a:custGeom>
            <a:avLst/>
            <a:gdLst/>
            <a:ahLst/>
            <a:cxnLst/>
            <a:rect l="l" t="t" r="r" b="b"/>
            <a:pathLst>
              <a:path w="1200784" h="686435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622071"/>
                </a:lnTo>
                <a:lnTo>
                  <a:pt x="540" y="630421"/>
                </a:lnTo>
                <a:lnTo>
                  <a:pt x="18743" y="667302"/>
                </a:lnTo>
                <a:lnTo>
                  <a:pt x="18859" y="667435"/>
                </a:lnTo>
                <a:lnTo>
                  <a:pt x="55734" y="685615"/>
                </a:lnTo>
                <a:lnTo>
                  <a:pt x="64084" y="686155"/>
                </a:lnTo>
                <a:lnTo>
                  <a:pt x="1136523" y="686155"/>
                </a:lnTo>
                <a:lnTo>
                  <a:pt x="1175560" y="672797"/>
                </a:lnTo>
                <a:lnTo>
                  <a:pt x="1198445" y="638635"/>
                </a:lnTo>
                <a:lnTo>
                  <a:pt x="1200607" y="622071"/>
                </a:lnTo>
                <a:lnTo>
                  <a:pt x="1200583" y="64071"/>
                </a:lnTo>
                <a:lnTo>
                  <a:pt x="1187242" y="25397"/>
                </a:lnTo>
                <a:lnTo>
                  <a:pt x="1153082" y="2516"/>
                </a:lnTo>
                <a:lnTo>
                  <a:pt x="1136523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00A7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004016" y="1647977"/>
            <a:ext cx="4730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640885" y="2377439"/>
            <a:ext cx="1200785" cy="868680"/>
          </a:xfrm>
          <a:custGeom>
            <a:avLst/>
            <a:gdLst/>
            <a:ahLst/>
            <a:cxnLst/>
            <a:rect l="l" t="t" r="r" b="b"/>
            <a:pathLst>
              <a:path w="1200784" h="868680">
                <a:moveTo>
                  <a:pt x="1145158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66" y="21422"/>
                </a:lnTo>
                <a:lnTo>
                  <a:pt x="0" y="54724"/>
                </a:lnTo>
                <a:lnTo>
                  <a:pt x="0" y="813955"/>
                </a:lnTo>
                <a:lnTo>
                  <a:pt x="3989" y="834554"/>
                </a:lnTo>
                <a:lnTo>
                  <a:pt x="4093" y="834870"/>
                </a:lnTo>
                <a:lnTo>
                  <a:pt x="33757" y="864581"/>
                </a:lnTo>
                <a:lnTo>
                  <a:pt x="48065" y="868324"/>
                </a:lnTo>
                <a:lnTo>
                  <a:pt x="49212" y="868324"/>
                </a:lnTo>
                <a:lnTo>
                  <a:pt x="54711" y="868680"/>
                </a:lnTo>
                <a:lnTo>
                  <a:pt x="1145514" y="868324"/>
                </a:lnTo>
                <a:lnTo>
                  <a:pt x="1184168" y="852387"/>
                </a:lnTo>
                <a:lnTo>
                  <a:pt x="1200215" y="813955"/>
                </a:lnTo>
                <a:lnTo>
                  <a:pt x="1200238" y="813600"/>
                </a:lnTo>
                <a:lnTo>
                  <a:pt x="1199870" y="54724"/>
                </a:lnTo>
                <a:lnTo>
                  <a:pt x="1183944" y="16063"/>
                </a:lnTo>
                <a:lnTo>
                  <a:pt x="1152367" y="466"/>
                </a:lnTo>
                <a:lnTo>
                  <a:pt x="1145158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0806734" y="2456179"/>
            <a:ext cx="868044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12115" marR="5080" indent="-400050">
              <a:lnSpc>
                <a:spcPct val="102800"/>
              </a:lnSpc>
              <a:spcBef>
                <a:spcPts val="90"/>
              </a:spcBef>
            </a:pP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Predicts</a:t>
            </a:r>
            <a:r>
              <a:rPr dirty="0" sz="850" spc="1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221A3C"/>
                </a:solidFill>
                <a:latin typeface="Calibri"/>
                <a:cs typeface="Calibri"/>
              </a:rPr>
              <a:t>class</a:t>
            </a:r>
            <a:r>
              <a:rPr dirty="0" sz="850" spc="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85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221A3C"/>
                </a:solidFill>
                <a:latin typeface="Calibri"/>
                <a:cs typeface="Calibri"/>
              </a:rPr>
              <a:t>z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09359" y="1897202"/>
            <a:ext cx="4932045" cy="502920"/>
          </a:xfrm>
          <a:custGeom>
            <a:avLst/>
            <a:gdLst/>
            <a:ahLst/>
            <a:cxnLst/>
            <a:rect l="l" t="t" r="r" b="b"/>
            <a:pathLst>
              <a:path w="4932045" h="502919">
                <a:moveTo>
                  <a:pt x="0" y="502919"/>
                </a:moveTo>
                <a:lnTo>
                  <a:pt x="919797" y="0"/>
                </a:lnTo>
              </a:path>
              <a:path w="4932045" h="502919">
                <a:moveTo>
                  <a:pt x="0" y="502919"/>
                </a:moveTo>
                <a:lnTo>
                  <a:pt x="2257196" y="0"/>
                </a:lnTo>
              </a:path>
              <a:path w="4932045" h="502919">
                <a:moveTo>
                  <a:pt x="0" y="502919"/>
                </a:moveTo>
                <a:lnTo>
                  <a:pt x="3594595" y="0"/>
                </a:lnTo>
              </a:path>
              <a:path w="4932045" h="502919">
                <a:moveTo>
                  <a:pt x="0" y="502919"/>
                </a:moveTo>
                <a:lnTo>
                  <a:pt x="4931994" y="0"/>
                </a:lnTo>
              </a:path>
            </a:pathLst>
          </a:custGeom>
          <a:ln w="12599">
            <a:solidFill>
              <a:srgbClr val="C8C1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17016" y="3328098"/>
            <a:ext cx="7129780" cy="73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4</a:t>
            </a:r>
            <a:r>
              <a:rPr dirty="0" sz="11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6D6483"/>
                </a:solidFill>
                <a:latin typeface="Calibri"/>
                <a:cs typeface="Calibri"/>
              </a:rPr>
              <a:t>modality-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specific</a:t>
            </a:r>
            <a:r>
              <a:rPr dirty="0" sz="11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6D6483"/>
                </a:solidFill>
                <a:latin typeface="Calibri"/>
                <a:cs typeface="Calibri"/>
              </a:rPr>
              <a:t>tokenizers</a:t>
            </a:r>
            <a:r>
              <a:rPr dirty="0" sz="11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all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feed</a:t>
            </a:r>
            <a:r>
              <a:rPr dirty="0" sz="11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1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SAME</a:t>
            </a:r>
            <a:r>
              <a:rPr dirty="0" sz="11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shared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VAE</a:t>
            </a:r>
            <a:r>
              <a:rPr dirty="0" sz="11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encoder</a:t>
            </a:r>
            <a:r>
              <a:rPr dirty="0" sz="115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one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set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of</a:t>
            </a:r>
            <a:r>
              <a:rPr dirty="0" sz="11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weights</a:t>
            </a:r>
            <a:r>
              <a:rPr dirty="0" sz="11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learns</a:t>
            </a:r>
            <a:r>
              <a:rPr dirty="0" sz="11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every</a:t>
            </a:r>
            <a:r>
              <a:rPr dirty="0" sz="11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modality</a:t>
            </a:r>
            <a:r>
              <a:rPr dirty="0" sz="11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6D6483"/>
                </a:solidFill>
                <a:latin typeface="Calibri"/>
                <a:cs typeface="Calibri"/>
              </a:rPr>
              <a:t>at</a:t>
            </a:r>
            <a:r>
              <a:rPr dirty="0" sz="11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6D6483"/>
                </a:solidFill>
                <a:latin typeface="Calibri"/>
                <a:cs typeface="Calibri"/>
              </a:rPr>
              <a:t>once.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90" b="1">
                <a:solidFill>
                  <a:srgbClr val="5A4A89"/>
                </a:solidFill>
                <a:latin typeface="Calibri"/>
                <a:cs typeface="Calibri"/>
              </a:rPr>
              <a:t>TRA</a:t>
            </a:r>
            <a:r>
              <a:rPr dirty="0" sz="1200" spc="-1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A4A89"/>
                </a:solidFill>
                <a:latin typeface="Calibri"/>
                <a:cs typeface="Calibri"/>
              </a:rPr>
              <a:t>I</a:t>
            </a:r>
            <a:r>
              <a:rPr dirty="0" sz="1200" spc="-114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60" b="1">
                <a:solidFill>
                  <a:srgbClr val="5A4A89"/>
                </a:solidFill>
                <a:latin typeface="Calibri"/>
                <a:cs typeface="Calibri"/>
              </a:rPr>
              <a:t>NI</a:t>
            </a:r>
            <a:r>
              <a:rPr dirty="0" sz="1200" spc="-1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70" b="1">
                <a:solidFill>
                  <a:srgbClr val="5A4A89"/>
                </a:solidFill>
                <a:latin typeface="Calibri"/>
                <a:cs typeface="Calibri"/>
              </a:rPr>
              <a:t>NG</a:t>
            </a:r>
            <a:r>
              <a:rPr dirty="0" sz="1200" spc="30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5A4A89"/>
                </a:solidFill>
                <a:latin typeface="Calibri"/>
                <a:cs typeface="Calibri"/>
              </a:rPr>
              <a:t>CU</a:t>
            </a:r>
            <a:r>
              <a:rPr dirty="0" sz="1200" spc="-11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5A4A89"/>
                </a:solidFill>
                <a:latin typeface="Calibri"/>
                <a:cs typeface="Calibri"/>
              </a:rPr>
              <a:t>RRI</a:t>
            </a:r>
            <a:r>
              <a:rPr dirty="0" sz="1200" spc="-1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A4A89"/>
                </a:solidFill>
                <a:latin typeface="Calibri"/>
                <a:cs typeface="Calibri"/>
              </a:rPr>
              <a:t>C</a:t>
            </a:r>
            <a:r>
              <a:rPr dirty="0" sz="1200" spc="-114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5A4A89"/>
                </a:solidFill>
                <a:latin typeface="Calibri"/>
                <a:cs typeface="Calibri"/>
              </a:rPr>
              <a:t>ULUM</a:t>
            </a:r>
            <a:r>
              <a:rPr dirty="0" sz="1200" spc="31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4A89"/>
                </a:solidFill>
                <a:latin typeface="Calibri"/>
                <a:cs typeface="Calibri"/>
              </a:rPr>
              <a:t>—</a:t>
            </a:r>
            <a:r>
              <a:rPr dirty="0" sz="1200" spc="30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4A89"/>
                </a:solidFill>
                <a:latin typeface="Calibri"/>
                <a:cs typeface="Calibri"/>
              </a:rPr>
              <a:t>4</a:t>
            </a:r>
            <a:r>
              <a:rPr dirty="0" sz="1200" spc="3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95" b="1">
                <a:solidFill>
                  <a:srgbClr val="5A4A89"/>
                </a:solidFill>
                <a:latin typeface="Calibri"/>
                <a:cs typeface="Calibri"/>
              </a:rPr>
              <a:t>SEQU</a:t>
            </a:r>
            <a:r>
              <a:rPr dirty="0" sz="1200" spc="-11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A4A89"/>
                </a:solidFill>
                <a:latin typeface="Calibri"/>
                <a:cs typeface="Calibri"/>
              </a:rPr>
              <a:t>E</a:t>
            </a:r>
            <a:r>
              <a:rPr dirty="0" sz="1200" spc="-125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60" b="1">
                <a:solidFill>
                  <a:srgbClr val="5A4A89"/>
                </a:solidFill>
                <a:latin typeface="Calibri"/>
                <a:cs typeface="Calibri"/>
              </a:rPr>
              <a:t>NT</a:t>
            </a:r>
            <a:r>
              <a:rPr dirty="0" sz="1200" spc="-114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A4A89"/>
                </a:solidFill>
                <a:latin typeface="Calibri"/>
                <a:cs typeface="Calibri"/>
              </a:rPr>
              <a:t>I</a:t>
            </a:r>
            <a:r>
              <a:rPr dirty="0" sz="1200" spc="-12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5A4A89"/>
                </a:solidFill>
                <a:latin typeface="Calibri"/>
                <a:cs typeface="Calibri"/>
              </a:rPr>
              <a:t>AL</a:t>
            </a:r>
            <a:r>
              <a:rPr dirty="0" sz="1200" spc="31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5A4A89"/>
                </a:solidFill>
                <a:latin typeface="Calibri"/>
                <a:cs typeface="Calibri"/>
              </a:rPr>
              <a:t>PHA</a:t>
            </a:r>
            <a:r>
              <a:rPr dirty="0" sz="1200" spc="-114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5A4A89"/>
                </a:solidFill>
                <a:latin typeface="Calibri"/>
                <a:cs typeface="Calibri"/>
              </a:rPr>
              <a:t>SES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0080" y="4206240"/>
            <a:ext cx="2606040" cy="1417320"/>
            <a:chOff x="640080" y="4206240"/>
            <a:chExt cx="2606040" cy="1417320"/>
          </a:xfrm>
        </p:grpSpPr>
        <p:sp>
          <p:nvSpPr>
            <p:cNvPr id="30" name="object 30"/>
            <p:cNvSpPr/>
            <p:nvPr/>
          </p:nvSpPr>
          <p:spPr>
            <a:xfrm>
              <a:off x="640080" y="4206240"/>
              <a:ext cx="2606040" cy="1417320"/>
            </a:xfrm>
            <a:custGeom>
              <a:avLst/>
              <a:gdLst/>
              <a:ahLst/>
              <a:cxnLst/>
              <a:rect l="l" t="t" r="r" b="b"/>
              <a:pathLst>
                <a:path w="2606040" h="14173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594" y="1353515"/>
                  </a:lnTo>
                  <a:lnTo>
                    <a:pt x="607" y="1353720"/>
                  </a:lnTo>
                  <a:lnTo>
                    <a:pt x="2394" y="1362916"/>
                  </a:lnTo>
                  <a:lnTo>
                    <a:pt x="2428" y="1363095"/>
                  </a:lnTo>
                  <a:lnTo>
                    <a:pt x="5412" y="1371979"/>
                  </a:lnTo>
                  <a:lnTo>
                    <a:pt x="36360" y="1407604"/>
                  </a:lnTo>
                  <a:lnTo>
                    <a:pt x="73075" y="1417320"/>
                  </a:lnTo>
                  <a:lnTo>
                    <a:pt x="2532964" y="1416964"/>
                  </a:lnTo>
                  <a:lnTo>
                    <a:pt x="2577334" y="1401860"/>
                  </a:lnTo>
                  <a:lnTo>
                    <a:pt x="2603551" y="1363095"/>
                  </a:lnTo>
                  <a:lnTo>
                    <a:pt x="2603611" y="1362916"/>
                  </a:lnTo>
                  <a:lnTo>
                    <a:pt x="2605392" y="1353720"/>
                  </a:lnTo>
                  <a:lnTo>
                    <a:pt x="2605432" y="1353515"/>
                  </a:lnTo>
                  <a:lnTo>
                    <a:pt x="2606016" y="1344244"/>
                  </a:lnTo>
                  <a:lnTo>
                    <a:pt x="2606040" y="134387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0080" y="4206240"/>
              <a:ext cx="2606040" cy="384175"/>
            </a:xfrm>
            <a:custGeom>
              <a:avLst/>
              <a:gdLst/>
              <a:ahLst/>
              <a:cxnLst/>
              <a:rect l="l" t="t" r="r" b="b"/>
              <a:pathLst>
                <a:path w="2606040" h="384175">
                  <a:moveTo>
                    <a:pt x="25325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1035"/>
                  </a:lnTo>
                  <a:lnTo>
                    <a:pt x="15046" y="355413"/>
                  </a:lnTo>
                  <a:lnTo>
                    <a:pt x="54046" y="381693"/>
                  </a:lnTo>
                  <a:lnTo>
                    <a:pt x="73075" y="384124"/>
                  </a:lnTo>
                  <a:lnTo>
                    <a:pt x="2532964" y="383755"/>
                  </a:lnTo>
                  <a:lnTo>
                    <a:pt x="2577334" y="368714"/>
                  </a:lnTo>
                  <a:lnTo>
                    <a:pt x="2603596" y="329758"/>
                  </a:lnTo>
                  <a:lnTo>
                    <a:pt x="2606040" y="310680"/>
                  </a:lnTo>
                  <a:lnTo>
                    <a:pt x="2605684" y="73075"/>
                  </a:lnTo>
                  <a:lnTo>
                    <a:pt x="2590630" y="28705"/>
                  </a:lnTo>
                  <a:lnTo>
                    <a:pt x="2551636" y="2428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5A4A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54544" y="4301540"/>
            <a:ext cx="1367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P1</a:t>
            </a:r>
            <a:r>
              <a:rPr dirty="0" sz="1100" spc="2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VAE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Reconstruction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4544" y="4779987"/>
            <a:ext cx="5480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30</a:t>
            </a:r>
            <a:r>
              <a:rPr dirty="0" sz="1000" spc="-4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D6483"/>
                </a:solidFill>
                <a:latin typeface="Calibri"/>
                <a:cs typeface="Calibri"/>
              </a:rPr>
              <a:t>epochs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4544" y="5187492"/>
            <a:ext cx="13843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221A3C"/>
                </a:solidFill>
                <a:latin typeface="Times New Roman"/>
                <a:cs typeface="Times New Roman"/>
              </a:rPr>
              <a:t>Recon</a:t>
            </a:r>
            <a:r>
              <a:rPr dirty="0" sz="1350" spc="30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221A3C"/>
                </a:solidFill>
                <a:latin typeface="Times New Roman"/>
                <a:cs typeface="Times New Roman"/>
              </a:rPr>
              <a:t>loss:</a:t>
            </a:r>
            <a:r>
              <a:rPr dirty="0" sz="1350" spc="35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221A3C"/>
                </a:solidFill>
                <a:latin typeface="Times New Roman"/>
                <a:cs typeface="Times New Roman"/>
              </a:rPr>
              <a:t>0.7326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74720" y="4206240"/>
            <a:ext cx="2606040" cy="1417320"/>
            <a:chOff x="3474720" y="4206240"/>
            <a:chExt cx="2606040" cy="1417320"/>
          </a:xfrm>
        </p:grpSpPr>
        <p:sp>
          <p:nvSpPr>
            <p:cNvPr id="36" name="object 36"/>
            <p:cNvSpPr/>
            <p:nvPr/>
          </p:nvSpPr>
          <p:spPr>
            <a:xfrm>
              <a:off x="3474720" y="4206240"/>
              <a:ext cx="2606040" cy="1417320"/>
            </a:xfrm>
            <a:custGeom>
              <a:avLst/>
              <a:gdLst/>
              <a:ahLst/>
              <a:cxnLst/>
              <a:rect l="l" t="t" r="r" b="b"/>
              <a:pathLst>
                <a:path w="2606040" h="14173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15098" y="1388614"/>
                  </a:lnTo>
                  <a:lnTo>
                    <a:pt x="54046" y="1414891"/>
                  </a:lnTo>
                  <a:lnTo>
                    <a:pt x="73075" y="1417320"/>
                  </a:lnTo>
                  <a:lnTo>
                    <a:pt x="2532964" y="1416964"/>
                  </a:lnTo>
                  <a:lnTo>
                    <a:pt x="2577334" y="1401860"/>
                  </a:lnTo>
                  <a:lnTo>
                    <a:pt x="2603551" y="1363095"/>
                  </a:lnTo>
                  <a:lnTo>
                    <a:pt x="2603611" y="1362916"/>
                  </a:lnTo>
                  <a:lnTo>
                    <a:pt x="2605392" y="1353720"/>
                  </a:lnTo>
                  <a:lnTo>
                    <a:pt x="2605432" y="1353515"/>
                  </a:lnTo>
                  <a:lnTo>
                    <a:pt x="2606016" y="1344244"/>
                  </a:lnTo>
                  <a:lnTo>
                    <a:pt x="2606040" y="134387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474720" y="4206240"/>
              <a:ext cx="2606040" cy="384175"/>
            </a:xfrm>
            <a:custGeom>
              <a:avLst/>
              <a:gdLst/>
              <a:ahLst/>
              <a:cxnLst/>
              <a:rect l="l" t="t" r="r" b="b"/>
              <a:pathLst>
                <a:path w="2606040" h="384175">
                  <a:moveTo>
                    <a:pt x="25325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1035"/>
                  </a:lnTo>
                  <a:lnTo>
                    <a:pt x="15046" y="355413"/>
                  </a:lnTo>
                  <a:lnTo>
                    <a:pt x="54046" y="381693"/>
                  </a:lnTo>
                  <a:lnTo>
                    <a:pt x="73075" y="384124"/>
                  </a:lnTo>
                  <a:lnTo>
                    <a:pt x="2532964" y="383755"/>
                  </a:lnTo>
                  <a:lnTo>
                    <a:pt x="2577334" y="368714"/>
                  </a:lnTo>
                  <a:lnTo>
                    <a:pt x="2603596" y="329758"/>
                  </a:lnTo>
                  <a:lnTo>
                    <a:pt x="2606017" y="311035"/>
                  </a:lnTo>
                  <a:lnTo>
                    <a:pt x="2606040" y="310680"/>
                  </a:lnTo>
                  <a:lnTo>
                    <a:pt x="2605684" y="73075"/>
                  </a:lnTo>
                  <a:lnTo>
                    <a:pt x="259063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3689184" y="4301540"/>
            <a:ext cx="15265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P2</a:t>
            </a:r>
            <a:r>
              <a:rPr dirty="0" sz="1100" spc="2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Contrastive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Alignment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89184" y="4779987"/>
            <a:ext cx="5480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20</a:t>
            </a:r>
            <a:r>
              <a:rPr dirty="0" sz="1000" spc="-4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D6483"/>
                </a:solidFill>
                <a:latin typeface="Calibri"/>
                <a:cs typeface="Calibri"/>
              </a:rPr>
              <a:t>epochs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89184" y="5187492"/>
            <a:ext cx="15386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40" b="1">
                <a:solidFill>
                  <a:srgbClr val="221A3C"/>
                </a:solidFill>
                <a:latin typeface="Times New Roman"/>
                <a:cs typeface="Times New Roman"/>
              </a:rPr>
              <a:t>NT-</a:t>
            </a:r>
            <a:r>
              <a:rPr dirty="0" sz="1350" b="1">
                <a:solidFill>
                  <a:srgbClr val="221A3C"/>
                </a:solidFill>
                <a:latin typeface="Times New Roman"/>
                <a:cs typeface="Times New Roman"/>
              </a:rPr>
              <a:t>Xent</a:t>
            </a:r>
            <a:r>
              <a:rPr dirty="0" sz="1350" spc="30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221A3C"/>
                </a:solidFill>
                <a:latin typeface="Times New Roman"/>
                <a:cs typeface="Times New Roman"/>
              </a:rPr>
              <a:t>loss:</a:t>
            </a:r>
            <a:r>
              <a:rPr dirty="0" sz="1350" spc="35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221A3C"/>
                </a:solidFill>
                <a:latin typeface="Times New Roman"/>
                <a:cs typeface="Times New Roman"/>
              </a:rPr>
              <a:t>2.9899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309359" y="4206240"/>
            <a:ext cx="2606040" cy="1417320"/>
            <a:chOff x="6309359" y="4206240"/>
            <a:chExt cx="2606040" cy="1417320"/>
          </a:xfrm>
        </p:grpSpPr>
        <p:sp>
          <p:nvSpPr>
            <p:cNvPr id="42" name="object 42"/>
            <p:cNvSpPr/>
            <p:nvPr/>
          </p:nvSpPr>
          <p:spPr>
            <a:xfrm>
              <a:off x="6309359" y="4206240"/>
              <a:ext cx="2606040" cy="1417320"/>
            </a:xfrm>
            <a:custGeom>
              <a:avLst/>
              <a:gdLst/>
              <a:ahLst/>
              <a:cxnLst/>
              <a:rect l="l" t="t" r="r" b="b"/>
              <a:pathLst>
                <a:path w="2606040" h="14173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15098" y="1388614"/>
                  </a:lnTo>
                  <a:lnTo>
                    <a:pt x="54046" y="1414891"/>
                  </a:lnTo>
                  <a:lnTo>
                    <a:pt x="73075" y="1417320"/>
                  </a:lnTo>
                  <a:lnTo>
                    <a:pt x="2532964" y="1416964"/>
                  </a:lnTo>
                  <a:lnTo>
                    <a:pt x="2577334" y="1401860"/>
                  </a:lnTo>
                  <a:lnTo>
                    <a:pt x="2600498" y="1372135"/>
                  </a:lnTo>
                  <a:lnTo>
                    <a:pt x="2600575" y="1371979"/>
                  </a:lnTo>
                  <a:lnTo>
                    <a:pt x="2603551" y="1363095"/>
                  </a:lnTo>
                  <a:lnTo>
                    <a:pt x="2603611" y="1362916"/>
                  </a:lnTo>
                  <a:lnTo>
                    <a:pt x="2605392" y="1353720"/>
                  </a:lnTo>
                  <a:lnTo>
                    <a:pt x="2605432" y="1353515"/>
                  </a:lnTo>
                  <a:lnTo>
                    <a:pt x="2606016" y="1344244"/>
                  </a:lnTo>
                  <a:lnTo>
                    <a:pt x="2606040" y="134387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309359" y="4206240"/>
              <a:ext cx="2606040" cy="384175"/>
            </a:xfrm>
            <a:custGeom>
              <a:avLst/>
              <a:gdLst/>
              <a:ahLst/>
              <a:cxnLst/>
              <a:rect l="l" t="t" r="r" b="b"/>
              <a:pathLst>
                <a:path w="2606040" h="384175">
                  <a:moveTo>
                    <a:pt x="25325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1035"/>
                  </a:lnTo>
                  <a:lnTo>
                    <a:pt x="15046" y="355413"/>
                  </a:lnTo>
                  <a:lnTo>
                    <a:pt x="54046" y="381693"/>
                  </a:lnTo>
                  <a:lnTo>
                    <a:pt x="73075" y="384124"/>
                  </a:lnTo>
                  <a:lnTo>
                    <a:pt x="2532964" y="383755"/>
                  </a:lnTo>
                  <a:lnTo>
                    <a:pt x="2577334" y="368714"/>
                  </a:lnTo>
                  <a:lnTo>
                    <a:pt x="2603596" y="329758"/>
                  </a:lnTo>
                  <a:lnTo>
                    <a:pt x="2606017" y="311035"/>
                  </a:lnTo>
                  <a:lnTo>
                    <a:pt x="2606040" y="310680"/>
                  </a:lnTo>
                  <a:lnTo>
                    <a:pt x="2605684" y="73075"/>
                  </a:lnTo>
                  <a:lnTo>
                    <a:pt x="259063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DF79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523825" y="4301540"/>
            <a:ext cx="9912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P3</a:t>
            </a:r>
            <a:r>
              <a:rPr dirty="0" sz="1100" spc="2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Decoder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23825" y="4779987"/>
            <a:ext cx="14249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20</a:t>
            </a:r>
            <a:r>
              <a:rPr dirty="0" sz="1000" spc="-5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epochs</a:t>
            </a:r>
            <a:r>
              <a:rPr dirty="0" sz="100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(encoder</a:t>
            </a:r>
            <a:r>
              <a:rPr dirty="0" sz="1000" spc="-4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D6483"/>
                </a:solidFill>
                <a:latin typeface="Calibri"/>
                <a:cs typeface="Calibri"/>
              </a:rPr>
              <a:t>frozen)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23825" y="5187492"/>
            <a:ext cx="16624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 b="1">
                <a:solidFill>
                  <a:srgbClr val="221A3C"/>
                </a:solidFill>
                <a:latin typeface="Times New Roman"/>
                <a:cs typeface="Times New Roman"/>
              </a:rPr>
              <a:t>Cross-</a:t>
            </a:r>
            <a:r>
              <a:rPr dirty="0" sz="1350" b="1">
                <a:solidFill>
                  <a:srgbClr val="221A3C"/>
                </a:solidFill>
                <a:latin typeface="Times New Roman"/>
                <a:cs typeface="Times New Roman"/>
              </a:rPr>
              <a:t>entropy:</a:t>
            </a:r>
            <a:r>
              <a:rPr dirty="0" sz="1350" spc="75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221A3C"/>
                </a:solidFill>
                <a:latin typeface="Times New Roman"/>
                <a:cs typeface="Times New Roman"/>
              </a:rPr>
              <a:t>0.4355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144000" y="4206240"/>
            <a:ext cx="2606040" cy="1417320"/>
            <a:chOff x="9144000" y="4206240"/>
            <a:chExt cx="2606040" cy="1417320"/>
          </a:xfrm>
        </p:grpSpPr>
        <p:sp>
          <p:nvSpPr>
            <p:cNvPr id="48" name="object 48"/>
            <p:cNvSpPr/>
            <p:nvPr/>
          </p:nvSpPr>
          <p:spPr>
            <a:xfrm>
              <a:off x="9144000" y="4206240"/>
              <a:ext cx="2606040" cy="1417320"/>
            </a:xfrm>
            <a:custGeom>
              <a:avLst/>
              <a:gdLst/>
              <a:ahLst/>
              <a:cxnLst/>
              <a:rect l="l" t="t" r="r" b="b"/>
              <a:pathLst>
                <a:path w="2606040" h="14173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594" y="1353515"/>
                  </a:lnTo>
                  <a:lnTo>
                    <a:pt x="607" y="1353720"/>
                  </a:lnTo>
                  <a:lnTo>
                    <a:pt x="2394" y="1362916"/>
                  </a:lnTo>
                  <a:lnTo>
                    <a:pt x="2428" y="1363095"/>
                  </a:lnTo>
                  <a:lnTo>
                    <a:pt x="5412" y="1371979"/>
                  </a:lnTo>
                  <a:lnTo>
                    <a:pt x="36360" y="1407604"/>
                  </a:lnTo>
                  <a:lnTo>
                    <a:pt x="73075" y="1417320"/>
                  </a:lnTo>
                  <a:lnTo>
                    <a:pt x="2532964" y="1416964"/>
                  </a:lnTo>
                  <a:lnTo>
                    <a:pt x="2577334" y="1401860"/>
                  </a:lnTo>
                  <a:lnTo>
                    <a:pt x="2600498" y="1372135"/>
                  </a:lnTo>
                  <a:lnTo>
                    <a:pt x="2600575" y="1371979"/>
                  </a:lnTo>
                  <a:lnTo>
                    <a:pt x="2603551" y="1363095"/>
                  </a:lnTo>
                  <a:lnTo>
                    <a:pt x="2603611" y="1362916"/>
                  </a:lnTo>
                  <a:lnTo>
                    <a:pt x="2605392" y="1353720"/>
                  </a:lnTo>
                  <a:lnTo>
                    <a:pt x="2605432" y="1353515"/>
                  </a:lnTo>
                  <a:lnTo>
                    <a:pt x="2606016" y="1344244"/>
                  </a:lnTo>
                  <a:lnTo>
                    <a:pt x="2606040" y="134387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144000" y="4206240"/>
              <a:ext cx="2606040" cy="384175"/>
            </a:xfrm>
            <a:custGeom>
              <a:avLst/>
              <a:gdLst/>
              <a:ahLst/>
              <a:cxnLst/>
              <a:rect l="l" t="t" r="r" b="b"/>
              <a:pathLst>
                <a:path w="2606040" h="384175">
                  <a:moveTo>
                    <a:pt x="25325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1035"/>
                  </a:lnTo>
                  <a:lnTo>
                    <a:pt x="597" y="320313"/>
                  </a:lnTo>
                  <a:lnTo>
                    <a:pt x="607" y="320463"/>
                  </a:lnTo>
                  <a:lnTo>
                    <a:pt x="21285" y="362653"/>
                  </a:lnTo>
                  <a:lnTo>
                    <a:pt x="63443" y="383516"/>
                  </a:lnTo>
                  <a:lnTo>
                    <a:pt x="73075" y="384124"/>
                  </a:lnTo>
                  <a:lnTo>
                    <a:pt x="2532964" y="383755"/>
                  </a:lnTo>
                  <a:lnTo>
                    <a:pt x="2577334" y="368714"/>
                  </a:lnTo>
                  <a:lnTo>
                    <a:pt x="2603596" y="329758"/>
                  </a:lnTo>
                  <a:lnTo>
                    <a:pt x="2606017" y="311035"/>
                  </a:lnTo>
                  <a:lnTo>
                    <a:pt x="2606040" y="310680"/>
                  </a:lnTo>
                  <a:lnTo>
                    <a:pt x="2605684" y="73075"/>
                  </a:lnTo>
                  <a:lnTo>
                    <a:pt x="259063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3C59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9358465" y="4301540"/>
            <a:ext cx="16840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P4</a:t>
            </a:r>
            <a:r>
              <a:rPr dirty="0" sz="110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Dynamics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 World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58465" y="4779987"/>
            <a:ext cx="11995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15</a:t>
            </a:r>
            <a:r>
              <a:rPr dirty="0" sz="100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D6483"/>
                </a:solidFill>
                <a:latin typeface="Calibri"/>
                <a:cs typeface="Calibri"/>
              </a:rPr>
              <a:t>epochs</a:t>
            </a: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D6483"/>
                </a:solidFill>
                <a:latin typeface="Calibri"/>
                <a:cs typeface="Calibri"/>
              </a:rPr>
              <a:t>(rest</a:t>
            </a:r>
            <a:r>
              <a:rPr dirty="0" sz="1000" spc="-30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D6483"/>
                </a:solidFill>
                <a:latin typeface="Calibri"/>
                <a:cs typeface="Calibri"/>
              </a:rPr>
              <a:t>frozen)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358465" y="5187492"/>
            <a:ext cx="9182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0" b="1">
                <a:solidFill>
                  <a:srgbClr val="221A3C"/>
                </a:solidFill>
                <a:latin typeface="Times New Roman"/>
                <a:cs typeface="Times New Roman"/>
              </a:rPr>
              <a:t>MSE:</a:t>
            </a:r>
            <a:r>
              <a:rPr dirty="0" sz="1350" spc="-25" b="1">
                <a:solidFill>
                  <a:srgbClr val="221A3C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221A3C"/>
                </a:solidFill>
                <a:latin typeface="Times New Roman"/>
                <a:cs typeface="Times New Roman"/>
              </a:rPr>
              <a:t>0.6265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7016" y="5869711"/>
            <a:ext cx="2171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i="1">
                <a:solidFill>
                  <a:srgbClr val="6D6483"/>
                </a:solidFill>
                <a:latin typeface="Calibri"/>
                <a:cs typeface="Calibri"/>
              </a:rPr>
              <a:t>Total</a:t>
            </a:r>
            <a:r>
              <a:rPr dirty="0" sz="11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D6483"/>
                </a:solidFill>
                <a:latin typeface="Calibri"/>
                <a:cs typeface="Calibri"/>
              </a:rPr>
              <a:t>trainable</a:t>
            </a:r>
            <a:r>
              <a:rPr dirty="0" sz="11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D6483"/>
                </a:solidFill>
                <a:latin typeface="Calibri"/>
                <a:cs typeface="Calibri"/>
              </a:rPr>
              <a:t>parameters:</a:t>
            </a:r>
            <a:r>
              <a:rPr dirty="0" sz="11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6D6483"/>
                </a:solidFill>
                <a:latin typeface="Calibri"/>
                <a:cs typeface="Calibri"/>
              </a:rPr>
              <a:t>3,492,977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2618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5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LT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—</a:t>
            </a:r>
            <a:r>
              <a:rPr dirty="0" sz="1200" spc="41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Q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200" spc="-10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A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N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T</a:t>
            </a:r>
            <a:r>
              <a:rPr dirty="0" sz="1200" spc="-6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00E4C6"/>
                </a:solidFill>
                <a:latin typeface="Calibri"/>
                <a:cs typeface="Calibri"/>
              </a:rPr>
              <a:t>TAT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Text</a:t>
            </a:r>
            <a:r>
              <a:rPr dirty="0" spc="-105"/>
              <a:t> </a:t>
            </a:r>
            <a:r>
              <a:rPr dirty="0" spc="85"/>
              <a:t>and</a:t>
            </a:r>
            <a:r>
              <a:rPr dirty="0" spc="-95"/>
              <a:t> </a:t>
            </a:r>
            <a:r>
              <a:rPr dirty="0" spc="90"/>
              <a:t>audio</a:t>
            </a:r>
            <a:r>
              <a:rPr dirty="0" spc="-95"/>
              <a:t> </a:t>
            </a:r>
            <a:r>
              <a:rPr dirty="0" spc="80"/>
              <a:t>anchor</a:t>
            </a:r>
            <a:r>
              <a:rPr dirty="0" spc="-95"/>
              <a:t> </a:t>
            </a:r>
            <a:r>
              <a:rPr dirty="0" spc="150"/>
              <a:t>the</a:t>
            </a:r>
            <a:r>
              <a:rPr dirty="0" spc="-100"/>
              <a:t> </a:t>
            </a:r>
            <a:r>
              <a:rPr dirty="0" spc="95"/>
              <a:t>shared</a:t>
            </a:r>
            <a:r>
              <a:rPr dirty="0" spc="-95"/>
              <a:t> </a:t>
            </a:r>
            <a:r>
              <a:rPr dirty="0" spc="100"/>
              <a:t>space</a:t>
            </a:r>
            <a:r>
              <a:rPr dirty="0" spc="-95"/>
              <a:t> </a:t>
            </a:r>
            <a:r>
              <a:rPr dirty="0" spc="100"/>
              <a:t>best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83881" y="2106904"/>
            <a:ext cx="5126990" cy="2399665"/>
            <a:chOff x="983881" y="2106904"/>
            <a:chExt cx="5126990" cy="2399665"/>
          </a:xfrm>
        </p:grpSpPr>
        <p:sp>
          <p:nvSpPr>
            <p:cNvPr id="5" name="object 5"/>
            <p:cNvSpPr/>
            <p:nvPr/>
          </p:nvSpPr>
          <p:spPr>
            <a:xfrm>
              <a:off x="1037882" y="4447260"/>
              <a:ext cx="5066665" cy="12700"/>
            </a:xfrm>
            <a:custGeom>
              <a:avLst/>
              <a:gdLst/>
              <a:ahLst/>
              <a:cxnLst/>
              <a:rect l="l" t="t" r="r" b="b"/>
              <a:pathLst>
                <a:path w="5066665" h="12700">
                  <a:moveTo>
                    <a:pt x="0" y="12598"/>
                  </a:moveTo>
                  <a:lnTo>
                    <a:pt x="5066639" y="12598"/>
                  </a:lnTo>
                  <a:lnTo>
                    <a:pt x="5066639" y="0"/>
                  </a:lnTo>
                  <a:lnTo>
                    <a:pt x="0" y="0"/>
                  </a:lnTo>
                  <a:lnTo>
                    <a:pt x="0" y="12598"/>
                  </a:lnTo>
                  <a:close/>
                </a:path>
              </a:pathLst>
            </a:custGeom>
            <a:solidFill>
              <a:srgbClr val="EC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7882" y="2347201"/>
              <a:ext cx="5066665" cy="1872614"/>
            </a:xfrm>
            <a:custGeom>
              <a:avLst/>
              <a:gdLst/>
              <a:ahLst/>
              <a:cxnLst/>
              <a:rect l="l" t="t" r="r" b="b"/>
              <a:pathLst>
                <a:path w="5066665" h="1872614">
                  <a:moveTo>
                    <a:pt x="0" y="1871992"/>
                  </a:moveTo>
                  <a:lnTo>
                    <a:pt x="196557" y="1871992"/>
                  </a:lnTo>
                </a:path>
                <a:path w="5066665" h="1872614">
                  <a:moveTo>
                    <a:pt x="2336761" y="1871992"/>
                  </a:moveTo>
                  <a:lnTo>
                    <a:pt x="2729522" y="1871992"/>
                  </a:lnTo>
                </a:path>
                <a:path w="5066665" h="1872614">
                  <a:moveTo>
                    <a:pt x="4869713" y="1871992"/>
                  </a:moveTo>
                  <a:lnTo>
                    <a:pt x="5066639" y="1871992"/>
                  </a:lnTo>
                </a:path>
                <a:path w="5066665" h="1872614">
                  <a:moveTo>
                    <a:pt x="3603243" y="1871992"/>
                  </a:moveTo>
                  <a:lnTo>
                    <a:pt x="3996359" y="1871992"/>
                  </a:lnTo>
                </a:path>
                <a:path w="5066665" h="1872614">
                  <a:moveTo>
                    <a:pt x="1069924" y="1871992"/>
                  </a:moveTo>
                  <a:lnTo>
                    <a:pt x="1463040" y="1871992"/>
                  </a:lnTo>
                </a:path>
                <a:path w="5066665" h="1872614">
                  <a:moveTo>
                    <a:pt x="1069924" y="1638363"/>
                  </a:moveTo>
                  <a:lnTo>
                    <a:pt x="1463040" y="1638363"/>
                  </a:lnTo>
                </a:path>
                <a:path w="5066665" h="1872614">
                  <a:moveTo>
                    <a:pt x="4869713" y="1638363"/>
                  </a:moveTo>
                  <a:lnTo>
                    <a:pt x="5066639" y="1638363"/>
                  </a:lnTo>
                </a:path>
                <a:path w="5066665" h="1872614">
                  <a:moveTo>
                    <a:pt x="2336761" y="1638363"/>
                  </a:moveTo>
                  <a:lnTo>
                    <a:pt x="2729522" y="1638363"/>
                  </a:lnTo>
                </a:path>
                <a:path w="5066665" h="1872614">
                  <a:moveTo>
                    <a:pt x="0" y="1638363"/>
                  </a:moveTo>
                  <a:lnTo>
                    <a:pt x="196557" y="1638363"/>
                  </a:lnTo>
                </a:path>
                <a:path w="5066665" h="1872614">
                  <a:moveTo>
                    <a:pt x="3603243" y="1638363"/>
                  </a:moveTo>
                  <a:lnTo>
                    <a:pt x="3996359" y="1638363"/>
                  </a:lnTo>
                </a:path>
                <a:path w="5066665" h="1872614">
                  <a:moveTo>
                    <a:pt x="0" y="1403997"/>
                  </a:moveTo>
                  <a:lnTo>
                    <a:pt x="196557" y="1403997"/>
                  </a:lnTo>
                </a:path>
                <a:path w="5066665" h="1872614">
                  <a:moveTo>
                    <a:pt x="1069924" y="1403997"/>
                  </a:moveTo>
                  <a:lnTo>
                    <a:pt x="1463040" y="1403997"/>
                  </a:lnTo>
                </a:path>
                <a:path w="5066665" h="1872614">
                  <a:moveTo>
                    <a:pt x="3603243" y="1403997"/>
                  </a:moveTo>
                  <a:lnTo>
                    <a:pt x="3996359" y="1403997"/>
                  </a:lnTo>
                </a:path>
                <a:path w="5066665" h="1872614">
                  <a:moveTo>
                    <a:pt x="2336761" y="1403997"/>
                  </a:moveTo>
                  <a:lnTo>
                    <a:pt x="2729522" y="1403997"/>
                  </a:lnTo>
                </a:path>
                <a:path w="5066665" h="1872614">
                  <a:moveTo>
                    <a:pt x="4869713" y="1403997"/>
                  </a:moveTo>
                  <a:lnTo>
                    <a:pt x="5066639" y="1403997"/>
                  </a:lnTo>
                </a:path>
                <a:path w="5066665" h="1872614">
                  <a:moveTo>
                    <a:pt x="0" y="1170000"/>
                  </a:moveTo>
                  <a:lnTo>
                    <a:pt x="196557" y="1170000"/>
                  </a:lnTo>
                </a:path>
                <a:path w="5066665" h="1872614">
                  <a:moveTo>
                    <a:pt x="4869713" y="1170000"/>
                  </a:moveTo>
                  <a:lnTo>
                    <a:pt x="5066639" y="1170000"/>
                  </a:lnTo>
                </a:path>
                <a:path w="5066665" h="1872614">
                  <a:moveTo>
                    <a:pt x="2336761" y="1170000"/>
                  </a:moveTo>
                  <a:lnTo>
                    <a:pt x="2729522" y="1170000"/>
                  </a:lnTo>
                </a:path>
                <a:path w="5066665" h="1872614">
                  <a:moveTo>
                    <a:pt x="3603243" y="1170000"/>
                  </a:moveTo>
                  <a:lnTo>
                    <a:pt x="3996359" y="1170000"/>
                  </a:lnTo>
                </a:path>
                <a:path w="5066665" h="1872614">
                  <a:moveTo>
                    <a:pt x="1069924" y="1170000"/>
                  </a:moveTo>
                  <a:lnTo>
                    <a:pt x="1463040" y="1170000"/>
                  </a:lnTo>
                </a:path>
                <a:path w="5066665" h="1872614">
                  <a:moveTo>
                    <a:pt x="4869713" y="936002"/>
                  </a:moveTo>
                  <a:lnTo>
                    <a:pt x="5066639" y="936002"/>
                  </a:lnTo>
                </a:path>
                <a:path w="5066665" h="1872614">
                  <a:moveTo>
                    <a:pt x="3603243" y="936002"/>
                  </a:moveTo>
                  <a:lnTo>
                    <a:pt x="3996359" y="936002"/>
                  </a:lnTo>
                </a:path>
                <a:path w="5066665" h="1872614">
                  <a:moveTo>
                    <a:pt x="0" y="936002"/>
                  </a:moveTo>
                  <a:lnTo>
                    <a:pt x="196557" y="936002"/>
                  </a:lnTo>
                </a:path>
                <a:path w="5066665" h="1872614">
                  <a:moveTo>
                    <a:pt x="2336761" y="936002"/>
                  </a:moveTo>
                  <a:lnTo>
                    <a:pt x="2729522" y="936002"/>
                  </a:lnTo>
                </a:path>
                <a:path w="5066665" h="1872614">
                  <a:moveTo>
                    <a:pt x="1069924" y="936002"/>
                  </a:moveTo>
                  <a:lnTo>
                    <a:pt x="1463040" y="936002"/>
                  </a:lnTo>
                </a:path>
                <a:path w="5066665" h="1872614">
                  <a:moveTo>
                    <a:pt x="4869713" y="701992"/>
                  </a:moveTo>
                  <a:lnTo>
                    <a:pt x="5066639" y="701992"/>
                  </a:lnTo>
                </a:path>
                <a:path w="5066665" h="1872614">
                  <a:moveTo>
                    <a:pt x="3603243" y="701992"/>
                  </a:moveTo>
                  <a:lnTo>
                    <a:pt x="3996359" y="701992"/>
                  </a:lnTo>
                </a:path>
                <a:path w="5066665" h="1872614">
                  <a:moveTo>
                    <a:pt x="2336761" y="701992"/>
                  </a:moveTo>
                  <a:lnTo>
                    <a:pt x="2729522" y="701992"/>
                  </a:lnTo>
                </a:path>
                <a:path w="5066665" h="1872614">
                  <a:moveTo>
                    <a:pt x="0" y="701992"/>
                  </a:moveTo>
                  <a:lnTo>
                    <a:pt x="196557" y="701992"/>
                  </a:lnTo>
                </a:path>
                <a:path w="5066665" h="1872614">
                  <a:moveTo>
                    <a:pt x="1069924" y="701992"/>
                  </a:moveTo>
                  <a:lnTo>
                    <a:pt x="1463040" y="701992"/>
                  </a:lnTo>
                </a:path>
                <a:path w="5066665" h="1872614">
                  <a:moveTo>
                    <a:pt x="2336761" y="467994"/>
                  </a:moveTo>
                  <a:lnTo>
                    <a:pt x="2729522" y="467994"/>
                  </a:lnTo>
                </a:path>
                <a:path w="5066665" h="1872614">
                  <a:moveTo>
                    <a:pt x="0" y="467994"/>
                  </a:moveTo>
                  <a:lnTo>
                    <a:pt x="1463040" y="467994"/>
                  </a:lnTo>
                </a:path>
                <a:path w="5066665" h="1872614">
                  <a:moveTo>
                    <a:pt x="3603243" y="467994"/>
                  </a:moveTo>
                  <a:lnTo>
                    <a:pt x="3996359" y="467994"/>
                  </a:lnTo>
                </a:path>
                <a:path w="5066665" h="1872614">
                  <a:moveTo>
                    <a:pt x="4869713" y="467994"/>
                  </a:moveTo>
                  <a:lnTo>
                    <a:pt x="5066639" y="467994"/>
                  </a:lnTo>
                </a:path>
                <a:path w="5066665" h="1872614">
                  <a:moveTo>
                    <a:pt x="4869713" y="233641"/>
                  </a:moveTo>
                  <a:lnTo>
                    <a:pt x="5066639" y="233641"/>
                  </a:lnTo>
                </a:path>
                <a:path w="5066665" h="1872614">
                  <a:moveTo>
                    <a:pt x="2336761" y="233641"/>
                  </a:moveTo>
                  <a:lnTo>
                    <a:pt x="2729522" y="233641"/>
                  </a:lnTo>
                </a:path>
                <a:path w="5066665" h="1872614">
                  <a:moveTo>
                    <a:pt x="0" y="233641"/>
                  </a:moveTo>
                  <a:lnTo>
                    <a:pt x="1463040" y="233641"/>
                  </a:lnTo>
                </a:path>
                <a:path w="5066665" h="1872614">
                  <a:moveTo>
                    <a:pt x="3603243" y="233641"/>
                  </a:moveTo>
                  <a:lnTo>
                    <a:pt x="3996359" y="233641"/>
                  </a:lnTo>
                </a:path>
                <a:path w="5066665" h="1872614">
                  <a:moveTo>
                    <a:pt x="4869713" y="0"/>
                  </a:moveTo>
                  <a:lnTo>
                    <a:pt x="5066639" y="0"/>
                  </a:lnTo>
                </a:path>
                <a:path w="5066665" h="1872614">
                  <a:moveTo>
                    <a:pt x="2336761" y="0"/>
                  </a:moveTo>
                  <a:lnTo>
                    <a:pt x="2729522" y="0"/>
                  </a:lnTo>
                </a:path>
                <a:path w="5066665" h="1872614">
                  <a:moveTo>
                    <a:pt x="0" y="0"/>
                  </a:moveTo>
                  <a:lnTo>
                    <a:pt x="1463040" y="0"/>
                  </a:lnTo>
                </a:path>
                <a:path w="5066665" h="1872614">
                  <a:moveTo>
                    <a:pt x="3603243" y="0"/>
                  </a:moveTo>
                  <a:lnTo>
                    <a:pt x="3996359" y="0"/>
                  </a:lnTo>
                </a:path>
              </a:pathLst>
            </a:custGeom>
            <a:ln w="12598">
              <a:solidFill>
                <a:srgbClr val="ECE9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7882" y="2113203"/>
              <a:ext cx="5066665" cy="0"/>
            </a:xfrm>
            <a:custGeom>
              <a:avLst/>
              <a:gdLst/>
              <a:ahLst/>
              <a:cxnLst/>
              <a:rect l="l" t="t" r="r" b="b"/>
              <a:pathLst>
                <a:path w="5066665" h="0">
                  <a:moveTo>
                    <a:pt x="5066639" y="0"/>
                  </a:moveTo>
                  <a:lnTo>
                    <a:pt x="0" y="0"/>
                  </a:lnTo>
                </a:path>
              </a:pathLst>
            </a:custGeom>
            <a:ln w="12598">
              <a:solidFill>
                <a:srgbClr val="ECE9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7882" y="4453559"/>
              <a:ext cx="5066665" cy="52705"/>
            </a:xfrm>
            <a:custGeom>
              <a:avLst/>
              <a:gdLst/>
              <a:ahLst/>
              <a:cxnLst/>
              <a:rect l="l" t="t" r="r" b="b"/>
              <a:pathLst>
                <a:path w="5066665" h="52704">
                  <a:moveTo>
                    <a:pt x="0" y="52565"/>
                  </a:moveTo>
                  <a:lnTo>
                    <a:pt x="0" y="0"/>
                  </a:lnTo>
                </a:path>
                <a:path w="5066665" h="52704">
                  <a:moveTo>
                    <a:pt x="1266482" y="52565"/>
                  </a:moveTo>
                  <a:lnTo>
                    <a:pt x="1266482" y="0"/>
                  </a:lnTo>
                </a:path>
                <a:path w="5066665" h="52704">
                  <a:moveTo>
                    <a:pt x="2532964" y="52565"/>
                  </a:moveTo>
                  <a:lnTo>
                    <a:pt x="2532964" y="0"/>
                  </a:lnTo>
                </a:path>
                <a:path w="5066665" h="52704">
                  <a:moveTo>
                    <a:pt x="3799801" y="52565"/>
                  </a:moveTo>
                  <a:lnTo>
                    <a:pt x="3799801" y="0"/>
                  </a:lnTo>
                </a:path>
                <a:path w="5066665" h="52704">
                  <a:moveTo>
                    <a:pt x="5066639" y="52565"/>
                  </a:moveTo>
                  <a:lnTo>
                    <a:pt x="5066639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7882" y="4447260"/>
              <a:ext cx="5066665" cy="12700"/>
            </a:xfrm>
            <a:custGeom>
              <a:avLst/>
              <a:gdLst/>
              <a:ahLst/>
              <a:cxnLst/>
              <a:rect l="l" t="t" r="r" b="b"/>
              <a:pathLst>
                <a:path w="5066665" h="12700">
                  <a:moveTo>
                    <a:pt x="0" y="12598"/>
                  </a:moveTo>
                  <a:lnTo>
                    <a:pt x="5066639" y="12598"/>
                  </a:lnTo>
                  <a:lnTo>
                    <a:pt x="5066639" y="0"/>
                  </a:lnTo>
                  <a:lnTo>
                    <a:pt x="0" y="0"/>
                  </a:lnTo>
                  <a:lnTo>
                    <a:pt x="0" y="12598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83881" y="2113203"/>
              <a:ext cx="54610" cy="2340610"/>
            </a:xfrm>
            <a:custGeom>
              <a:avLst/>
              <a:gdLst/>
              <a:ahLst/>
              <a:cxnLst/>
              <a:rect l="l" t="t" r="r" b="b"/>
              <a:pathLst>
                <a:path w="54609" h="2340610">
                  <a:moveTo>
                    <a:pt x="0" y="2340356"/>
                  </a:moveTo>
                  <a:lnTo>
                    <a:pt x="54000" y="2340356"/>
                  </a:lnTo>
                </a:path>
                <a:path w="54609" h="2340610">
                  <a:moveTo>
                    <a:pt x="0" y="2105990"/>
                  </a:moveTo>
                  <a:lnTo>
                    <a:pt x="54000" y="2105990"/>
                  </a:lnTo>
                </a:path>
                <a:path w="54609" h="2340610">
                  <a:moveTo>
                    <a:pt x="0" y="1872361"/>
                  </a:moveTo>
                  <a:lnTo>
                    <a:pt x="54000" y="1872361"/>
                  </a:lnTo>
                </a:path>
                <a:path w="54609" h="2340610">
                  <a:moveTo>
                    <a:pt x="0" y="1637995"/>
                  </a:moveTo>
                  <a:lnTo>
                    <a:pt x="54000" y="1637995"/>
                  </a:lnTo>
                </a:path>
                <a:path w="54609" h="2340610">
                  <a:moveTo>
                    <a:pt x="0" y="1403997"/>
                  </a:moveTo>
                  <a:lnTo>
                    <a:pt x="54000" y="1403997"/>
                  </a:lnTo>
                </a:path>
                <a:path w="54609" h="2340610">
                  <a:moveTo>
                    <a:pt x="0" y="1170000"/>
                  </a:moveTo>
                  <a:lnTo>
                    <a:pt x="54000" y="1170000"/>
                  </a:lnTo>
                </a:path>
                <a:path w="54609" h="2340610">
                  <a:moveTo>
                    <a:pt x="0" y="935989"/>
                  </a:moveTo>
                  <a:lnTo>
                    <a:pt x="54000" y="935989"/>
                  </a:lnTo>
                </a:path>
                <a:path w="54609" h="2340610">
                  <a:moveTo>
                    <a:pt x="0" y="701992"/>
                  </a:moveTo>
                  <a:lnTo>
                    <a:pt x="54000" y="701992"/>
                  </a:lnTo>
                </a:path>
                <a:path w="54609" h="2340610">
                  <a:moveTo>
                    <a:pt x="0" y="467639"/>
                  </a:moveTo>
                  <a:lnTo>
                    <a:pt x="54000" y="467639"/>
                  </a:lnTo>
                </a:path>
                <a:path w="54609" h="2340610">
                  <a:moveTo>
                    <a:pt x="0" y="233997"/>
                  </a:moveTo>
                  <a:lnTo>
                    <a:pt x="54000" y="233997"/>
                  </a:lnTo>
                </a:path>
                <a:path w="54609" h="2340610">
                  <a:moveTo>
                    <a:pt x="0" y="0"/>
                  </a:moveTo>
                  <a:lnTo>
                    <a:pt x="54000" y="0"/>
                  </a:lnTo>
                </a:path>
                <a:path w="54609" h="2340610">
                  <a:moveTo>
                    <a:pt x="54000" y="2340356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34440" y="2901962"/>
              <a:ext cx="873760" cy="1551940"/>
            </a:xfrm>
            <a:custGeom>
              <a:avLst/>
              <a:gdLst/>
              <a:ahLst/>
              <a:cxnLst/>
              <a:rect l="l" t="t" r="r" b="b"/>
              <a:pathLst>
                <a:path w="873760" h="1551939">
                  <a:moveTo>
                    <a:pt x="873366" y="0"/>
                  </a:moveTo>
                  <a:lnTo>
                    <a:pt x="0" y="0"/>
                  </a:lnTo>
                  <a:lnTo>
                    <a:pt x="0" y="1551597"/>
                  </a:lnTo>
                  <a:lnTo>
                    <a:pt x="873366" y="1551597"/>
                  </a:lnTo>
                  <a:lnTo>
                    <a:pt x="873366" y="0"/>
                  </a:lnTo>
                  <a:close/>
                </a:path>
              </a:pathLst>
            </a:custGeom>
            <a:solidFill>
              <a:srgbClr val="5A4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00922" y="2113203"/>
              <a:ext cx="873760" cy="2340610"/>
            </a:xfrm>
            <a:custGeom>
              <a:avLst/>
              <a:gdLst/>
              <a:ahLst/>
              <a:cxnLst/>
              <a:rect l="l" t="t" r="r" b="b"/>
              <a:pathLst>
                <a:path w="873760" h="2340610">
                  <a:moveTo>
                    <a:pt x="873721" y="0"/>
                  </a:moveTo>
                  <a:lnTo>
                    <a:pt x="0" y="0"/>
                  </a:lnTo>
                  <a:lnTo>
                    <a:pt x="0" y="2340356"/>
                  </a:lnTo>
                  <a:lnTo>
                    <a:pt x="873721" y="2340356"/>
                  </a:lnTo>
                  <a:lnTo>
                    <a:pt x="873721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67404" y="2113203"/>
              <a:ext cx="873760" cy="2340610"/>
            </a:xfrm>
            <a:custGeom>
              <a:avLst/>
              <a:gdLst/>
              <a:ahLst/>
              <a:cxnLst/>
              <a:rect l="l" t="t" r="r" b="b"/>
              <a:pathLst>
                <a:path w="873760" h="2340610">
                  <a:moveTo>
                    <a:pt x="873721" y="0"/>
                  </a:moveTo>
                  <a:lnTo>
                    <a:pt x="0" y="0"/>
                  </a:lnTo>
                  <a:lnTo>
                    <a:pt x="0" y="2340356"/>
                  </a:lnTo>
                  <a:lnTo>
                    <a:pt x="873721" y="2340356"/>
                  </a:lnTo>
                  <a:lnTo>
                    <a:pt x="873721" y="0"/>
                  </a:lnTo>
                  <a:close/>
                </a:path>
              </a:pathLst>
            </a:custGeom>
            <a:solidFill>
              <a:srgbClr val="DF79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34241" y="2255761"/>
              <a:ext cx="873760" cy="2198370"/>
            </a:xfrm>
            <a:custGeom>
              <a:avLst/>
              <a:gdLst/>
              <a:ahLst/>
              <a:cxnLst/>
              <a:rect l="l" t="t" r="r" b="b"/>
              <a:pathLst>
                <a:path w="873760" h="2198370">
                  <a:moveTo>
                    <a:pt x="873353" y="0"/>
                  </a:moveTo>
                  <a:lnTo>
                    <a:pt x="0" y="0"/>
                  </a:lnTo>
                  <a:lnTo>
                    <a:pt x="0" y="2197798"/>
                  </a:lnTo>
                  <a:lnTo>
                    <a:pt x="873353" y="2197798"/>
                  </a:lnTo>
                  <a:lnTo>
                    <a:pt x="873353" y="0"/>
                  </a:lnTo>
                  <a:close/>
                </a:path>
              </a:pathLst>
            </a:custGeom>
            <a:solidFill>
              <a:srgbClr val="3C59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62849" y="4522787"/>
            <a:ext cx="4171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6D6483"/>
                </a:solidFill>
                <a:latin typeface="Arial MT"/>
                <a:cs typeface="Arial MT"/>
              </a:rPr>
              <a:t>Image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4000" y="4522787"/>
            <a:ext cx="38862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6D6483"/>
                </a:solidFill>
                <a:latin typeface="Arial MT"/>
                <a:cs typeface="Arial MT"/>
              </a:rPr>
              <a:t>Audio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3243" y="4522787"/>
            <a:ext cx="30162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0">
                <a:solidFill>
                  <a:srgbClr val="6D6483"/>
                </a:solidFill>
                <a:latin typeface="Arial MT"/>
                <a:cs typeface="Arial MT"/>
              </a:rPr>
              <a:t>Text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7167" y="4522787"/>
            <a:ext cx="38862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6D6483"/>
                </a:solidFill>
                <a:latin typeface="Arial MT"/>
                <a:cs typeface="Arial MT"/>
              </a:rPr>
              <a:t>Video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539" y="3430029"/>
            <a:ext cx="251460" cy="10960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0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40%</a:t>
            </a:r>
            <a:endParaRPr sz="8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819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30%</a:t>
            </a:r>
            <a:endParaRPr sz="8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825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20%</a:t>
            </a:r>
            <a:endParaRPr sz="8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825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10%</a:t>
            </a:r>
            <a:endParaRPr sz="8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819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0%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6539" y="2727947"/>
            <a:ext cx="251460" cy="6280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70%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60%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50%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6539" y="2259774"/>
            <a:ext cx="251460" cy="393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90%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850" spc="-25">
                <a:solidFill>
                  <a:srgbClr val="6D6483"/>
                </a:solidFill>
                <a:latin typeface="Arial MT"/>
                <a:cs typeface="Arial MT"/>
              </a:rPr>
              <a:t>80%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300" y="2025865"/>
            <a:ext cx="3181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0">
                <a:solidFill>
                  <a:srgbClr val="6D6483"/>
                </a:solidFill>
                <a:latin typeface="Arial MT"/>
                <a:cs typeface="Arial MT"/>
              </a:rPr>
              <a:t>100%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8163" y="2690774"/>
            <a:ext cx="42545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221A3C"/>
                </a:solidFill>
                <a:latin typeface="Arial MT"/>
                <a:cs typeface="Arial MT"/>
              </a:rPr>
              <a:t>66.3%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58079" y="2044801"/>
            <a:ext cx="42545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221A3C"/>
                </a:solidFill>
                <a:latin typeface="Arial MT"/>
                <a:cs typeface="Arial MT"/>
              </a:rPr>
              <a:t>93.9%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7016" y="1602625"/>
            <a:ext cx="8478520" cy="488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4225" algn="l"/>
              </a:tabLst>
            </a:pPr>
            <a:r>
              <a:rPr dirty="0" sz="1300" spc="-10" b="1">
                <a:solidFill>
                  <a:srgbClr val="221A3C"/>
                </a:solidFill>
                <a:latin typeface="Calibri"/>
                <a:cs typeface="Calibri"/>
              </a:rPr>
              <a:t>Classification accuracy</a:t>
            </a:r>
            <a:r>
              <a:rPr dirty="0" sz="130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21A3C"/>
                </a:solidFill>
                <a:latin typeface="Calibri"/>
                <a:cs typeface="Calibri"/>
              </a:rPr>
              <a:t>per</a:t>
            </a:r>
            <a:r>
              <a:rPr dirty="0" sz="130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21A3C"/>
                </a:solidFill>
                <a:latin typeface="Calibri"/>
                <a:cs typeface="Calibri"/>
              </a:rPr>
              <a:t>modality</a:t>
            </a:r>
            <a:r>
              <a:rPr dirty="0" sz="1300" b="1">
                <a:solidFill>
                  <a:srgbClr val="221A3C"/>
                </a:solidFill>
                <a:latin typeface="Calibri"/>
                <a:cs typeface="Calibri"/>
              </a:rPr>
              <a:t>	</a:t>
            </a:r>
            <a:r>
              <a:rPr dirty="0" sz="1300" spc="-10" b="1">
                <a:solidFill>
                  <a:srgbClr val="221A3C"/>
                </a:solidFill>
                <a:latin typeface="Calibri"/>
                <a:cs typeface="Calibri"/>
              </a:rPr>
              <a:t>Cross-</a:t>
            </a:r>
            <a:r>
              <a:rPr dirty="0" sz="1300" b="1">
                <a:solidFill>
                  <a:srgbClr val="221A3C"/>
                </a:solidFill>
                <a:latin typeface="Calibri"/>
                <a:cs typeface="Calibri"/>
              </a:rPr>
              <a:t>modal</a:t>
            </a:r>
            <a:r>
              <a:rPr dirty="0" sz="130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21A3C"/>
                </a:solidFill>
                <a:latin typeface="Calibri"/>
                <a:cs typeface="Calibri"/>
              </a:rPr>
              <a:t>retrieval</a:t>
            </a:r>
            <a:r>
              <a:rPr dirty="0" sz="1300" spc="-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21A3C"/>
                </a:solidFill>
                <a:latin typeface="Calibri"/>
                <a:cs typeface="Calibri"/>
              </a:rPr>
              <a:t>accuracy</a:t>
            </a:r>
            <a:r>
              <a:rPr dirty="0" sz="1300" spc="-2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300" spc="-35" b="1">
                <a:solidFill>
                  <a:srgbClr val="221A3C"/>
                </a:solidFill>
                <a:latin typeface="Calibri"/>
                <a:cs typeface="Calibri"/>
              </a:rPr>
              <a:t>(Top-</a:t>
            </a:r>
            <a:r>
              <a:rPr dirty="0" sz="1300" spc="-25" b="1">
                <a:solidFill>
                  <a:srgbClr val="221A3C"/>
                </a:solidFill>
                <a:latin typeface="Calibri"/>
                <a:cs typeface="Calibri"/>
              </a:rPr>
              <a:t>1)</a:t>
            </a:r>
            <a:endParaRPr sz="1300">
              <a:latin typeface="Calibri"/>
              <a:cs typeface="Calibri"/>
            </a:endParaRPr>
          </a:p>
          <a:p>
            <a:pPr marL="1981835">
              <a:lnSpc>
                <a:spcPct val="100000"/>
              </a:lnSpc>
              <a:spcBef>
                <a:spcPts val="815"/>
              </a:spcBef>
              <a:tabLst>
                <a:tab pos="3248660" algn="l"/>
              </a:tabLst>
            </a:pPr>
            <a:r>
              <a:rPr dirty="0" sz="1050" spc="-10">
                <a:solidFill>
                  <a:srgbClr val="221A3C"/>
                </a:solidFill>
                <a:latin typeface="Arial MT"/>
                <a:cs typeface="Arial MT"/>
              </a:rPr>
              <a:t>100.0%</a:t>
            </a:r>
            <a:r>
              <a:rPr dirty="0" sz="1050">
                <a:solidFill>
                  <a:srgbClr val="221A3C"/>
                </a:solidFill>
                <a:latin typeface="Arial MT"/>
                <a:cs typeface="Arial MT"/>
              </a:rPr>
              <a:t>	</a:t>
            </a:r>
            <a:r>
              <a:rPr dirty="0" sz="1050" spc="-10">
                <a:solidFill>
                  <a:srgbClr val="221A3C"/>
                </a:solidFill>
                <a:latin typeface="Arial MT"/>
                <a:cs typeface="Arial MT"/>
              </a:rPr>
              <a:t>100.0%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488112" y="1961832"/>
          <a:ext cx="5159375" cy="2484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8920"/>
                <a:gridCol w="1143000"/>
                <a:gridCol w="1143000"/>
              </a:tblGrid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Query</a:t>
                      </a:r>
                      <a:r>
                        <a:rPr dirty="0" sz="10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Gallery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1A0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Top-</a:t>
                      </a:r>
                      <a:r>
                        <a:rPr dirty="0" sz="105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1A0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Top-</a:t>
                      </a:r>
                      <a:r>
                        <a:rPr dirty="0" sz="105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1A0F34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050" spc="-4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4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audio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66.1%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67.3%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050" spc="-4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4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65.9%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67.2%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050" spc="-4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4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64.6%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77.5%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audio</a:t>
                      </a:r>
                      <a:r>
                        <a:rPr dirty="0" sz="1050" spc="-3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2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80.0%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100.0%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77.0%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100.0%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r>
                        <a:rPr dirty="0" sz="1050" spc="-4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70.7%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98.4%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  <a:solidFill>
                      <a:srgbClr val="F4F2F9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audio</a:t>
                      </a:r>
                      <a:r>
                        <a:rPr dirty="0" sz="1050" spc="-3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3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1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r>
                        <a:rPr dirty="0" sz="1050" spc="-3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↔</a:t>
                      </a:r>
                      <a:r>
                        <a:rPr dirty="0" sz="1050" spc="-3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94–</a:t>
                      </a:r>
                      <a:r>
                        <a:rPr dirty="0" sz="1050" spc="-2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25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94–</a:t>
                      </a:r>
                      <a:r>
                        <a:rPr dirty="0" sz="1050" spc="-20">
                          <a:solidFill>
                            <a:srgbClr val="221A3C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E3DFEF"/>
                      </a:solidFill>
                      <a:prstDash val="solid"/>
                    </a:lnL>
                    <a:lnR w="9525">
                      <a:solidFill>
                        <a:srgbClr val="E3DFEF"/>
                      </a:solidFill>
                      <a:prstDash val="solid"/>
                    </a:lnR>
                    <a:lnT w="9525">
                      <a:solidFill>
                        <a:srgbClr val="E3DFEF"/>
                      </a:solidFill>
                      <a:prstDash val="solid"/>
                    </a:lnT>
                    <a:lnB w="9525">
                      <a:solidFill>
                        <a:srgbClr val="E3DFE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548284" y="5029200"/>
            <a:ext cx="11064240" cy="1234440"/>
          </a:xfrm>
          <a:custGeom>
            <a:avLst/>
            <a:gdLst/>
            <a:ahLst/>
            <a:cxnLst/>
            <a:rect l="l" t="t" r="r" b="b"/>
            <a:pathLst>
              <a:path w="11064240" h="1234439">
                <a:moveTo>
                  <a:pt x="109907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1161364"/>
                </a:lnTo>
                <a:lnTo>
                  <a:pt x="594" y="1170635"/>
                </a:lnTo>
                <a:lnTo>
                  <a:pt x="607" y="1170840"/>
                </a:lnTo>
                <a:lnTo>
                  <a:pt x="2394" y="1180036"/>
                </a:lnTo>
                <a:lnTo>
                  <a:pt x="2428" y="1180215"/>
                </a:lnTo>
                <a:lnTo>
                  <a:pt x="5412" y="1189099"/>
                </a:lnTo>
                <a:lnTo>
                  <a:pt x="36360" y="1224724"/>
                </a:lnTo>
                <a:lnTo>
                  <a:pt x="73075" y="1234440"/>
                </a:lnTo>
                <a:lnTo>
                  <a:pt x="10991151" y="1234084"/>
                </a:lnTo>
                <a:lnTo>
                  <a:pt x="11035529" y="1218980"/>
                </a:lnTo>
                <a:lnTo>
                  <a:pt x="11058692" y="1189255"/>
                </a:lnTo>
                <a:lnTo>
                  <a:pt x="11058769" y="1189099"/>
                </a:lnTo>
                <a:lnTo>
                  <a:pt x="11064216" y="1161364"/>
                </a:lnTo>
                <a:lnTo>
                  <a:pt x="11064240" y="1160995"/>
                </a:lnTo>
                <a:lnTo>
                  <a:pt x="11063871" y="73075"/>
                </a:lnTo>
                <a:lnTo>
                  <a:pt x="11048780" y="28705"/>
                </a:lnTo>
                <a:lnTo>
                  <a:pt x="11009830" y="2428"/>
                </a:lnTo>
                <a:lnTo>
                  <a:pt x="11000429" y="607"/>
                </a:lnTo>
                <a:lnTo>
                  <a:pt x="10990795" y="0"/>
                </a:lnTo>
                <a:close/>
              </a:path>
            </a:pathLst>
          </a:custGeom>
          <a:solidFill>
            <a:srgbClr val="F4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54176" y="5170807"/>
            <a:ext cx="1041527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A4A89"/>
                </a:solidFill>
                <a:latin typeface="Calibri"/>
                <a:cs typeface="Calibri"/>
              </a:rPr>
              <a:t>Reading</a:t>
            </a:r>
            <a:r>
              <a:rPr dirty="0" sz="1200" spc="-3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4A89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4A89"/>
                </a:solidFill>
                <a:latin typeface="Calibri"/>
                <a:cs typeface="Calibri"/>
              </a:rPr>
              <a:t>numbers:</a:t>
            </a:r>
            <a:r>
              <a:rPr dirty="0" sz="1200" spc="240" b="1">
                <a:solidFill>
                  <a:srgbClr val="5A4A8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audio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text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sit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almost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perfectly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top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each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other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latent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space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(100%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mutual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retrieval),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because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both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are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generated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directly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the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class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label.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Image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is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hardest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anchor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—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its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higher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intra-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class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visual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variance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means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retrieval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from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image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drops</a:t>
            </a:r>
            <a:r>
              <a:rPr dirty="0" sz="1200" spc="-3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65–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80%,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while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video</a:t>
            </a:r>
            <a:r>
              <a:rPr dirty="0" sz="1200" spc="-3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(a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motion-augmented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image)</a:t>
            </a:r>
            <a:r>
              <a:rPr dirty="0" sz="1200" spc="50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sits</a:t>
            </a:r>
            <a:r>
              <a:rPr dirty="0" sz="1200" spc="-20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1200" spc="-25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1A3C"/>
                </a:solidFill>
                <a:latin typeface="Calibri"/>
                <a:cs typeface="Calibri"/>
              </a:rPr>
              <a:t>between.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2481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0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5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·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R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LT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S</a:t>
            </a:r>
            <a:r>
              <a:rPr dirty="0" sz="1200" spc="42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—</a:t>
            </a:r>
            <a:r>
              <a:rPr dirty="0" sz="1200" spc="409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Q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U</a:t>
            </a:r>
            <a:r>
              <a:rPr dirty="0" sz="1200" spc="-9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E4C6"/>
                </a:solidFill>
                <a:latin typeface="Calibri"/>
                <a:cs typeface="Calibri"/>
              </a:rPr>
              <a:t>A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L</a:t>
            </a:r>
            <a:r>
              <a:rPr dirty="0" sz="1200" spc="-6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8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00E4C6"/>
                </a:solidFill>
                <a:latin typeface="Calibri"/>
                <a:cs typeface="Calibri"/>
              </a:rPr>
              <a:t>TAT</a:t>
            </a:r>
            <a:r>
              <a:rPr dirty="0" sz="1200" spc="-7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E4C6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00E4C6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00E4C6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dirty="0" spc="-70"/>
              <a:t> </a:t>
            </a:r>
            <a:r>
              <a:rPr dirty="0" spc="90"/>
              <a:t>text</a:t>
            </a:r>
            <a:r>
              <a:rPr dirty="0" spc="-65"/>
              <a:t> </a:t>
            </a:r>
            <a:r>
              <a:rPr dirty="0"/>
              <a:t>decoder,</a:t>
            </a:r>
            <a:r>
              <a:rPr dirty="0" spc="-55"/>
              <a:t> </a:t>
            </a:r>
            <a:r>
              <a:rPr dirty="0" spc="65"/>
              <a:t>any</a:t>
            </a:r>
            <a:r>
              <a:rPr dirty="0" spc="-60"/>
              <a:t> </a:t>
            </a:r>
            <a:r>
              <a:rPr dirty="0" spc="85"/>
              <a:t>modality</a:t>
            </a:r>
            <a:r>
              <a:rPr dirty="0" spc="-60"/>
              <a:t> </a:t>
            </a:r>
            <a:r>
              <a:rPr dirty="0" spc="90"/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016" y="1611972"/>
            <a:ext cx="9874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Real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spc="-15" i="1">
                <a:solidFill>
                  <a:srgbClr val="6D6483"/>
                </a:solidFill>
                <a:latin typeface="Calibri"/>
                <a:cs typeface="Calibri"/>
              </a:rPr>
              <a:t>CIFAR-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10</a:t>
            </a:r>
            <a:r>
              <a:rPr dirty="0" sz="12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test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images</a:t>
            </a:r>
            <a:r>
              <a:rPr dirty="0" sz="12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captions</a:t>
            </a:r>
            <a:r>
              <a:rPr dirty="0" sz="1200" spc="-4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generated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purely</a:t>
            </a:r>
            <a:r>
              <a:rPr dirty="0" sz="120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from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their</a:t>
            </a:r>
            <a:r>
              <a:rPr dirty="0" sz="12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encoded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image,</a:t>
            </a:r>
            <a:r>
              <a:rPr dirty="0" sz="12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audio,</a:t>
            </a:r>
            <a:r>
              <a:rPr dirty="0" sz="120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and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video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latents.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model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never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sees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caption</a:t>
            </a:r>
            <a:r>
              <a:rPr dirty="0" sz="1200" spc="-3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text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D6483"/>
                </a:solidFill>
                <a:latin typeface="Calibri"/>
                <a:cs typeface="Calibri"/>
              </a:rPr>
              <a:t>at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6D6483"/>
                </a:solidFill>
                <a:latin typeface="Calibri"/>
                <a:cs typeface="Calibri"/>
              </a:rPr>
              <a:t>inference</a:t>
            </a:r>
            <a:r>
              <a:rPr dirty="0" sz="1200" spc="-3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6D6483"/>
                </a:solidFill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724" y="1919884"/>
            <a:ext cx="3521075" cy="2972435"/>
            <a:chOff x="639724" y="1919884"/>
            <a:chExt cx="3521075" cy="2972435"/>
          </a:xfrm>
        </p:grpSpPr>
        <p:sp>
          <p:nvSpPr>
            <p:cNvPr id="6" name="object 6"/>
            <p:cNvSpPr/>
            <p:nvPr/>
          </p:nvSpPr>
          <p:spPr>
            <a:xfrm>
              <a:off x="639724" y="1919884"/>
              <a:ext cx="3521075" cy="2972435"/>
            </a:xfrm>
            <a:custGeom>
              <a:avLst/>
              <a:gdLst/>
              <a:ahLst/>
              <a:cxnLst/>
              <a:rect l="l" t="t" r="r" b="b"/>
              <a:pathLst>
                <a:path w="3521075" h="297243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2889719"/>
                  </a:lnTo>
                  <a:lnTo>
                    <a:pt x="719" y="2900485"/>
                  </a:lnTo>
                  <a:lnTo>
                    <a:pt x="729" y="2900641"/>
                  </a:lnTo>
                  <a:lnTo>
                    <a:pt x="17036" y="2939780"/>
                  </a:lnTo>
                  <a:lnTo>
                    <a:pt x="50942" y="2965774"/>
                  </a:lnTo>
                  <a:lnTo>
                    <a:pt x="82435" y="2972155"/>
                  </a:lnTo>
                  <a:lnTo>
                    <a:pt x="3438359" y="2972155"/>
                  </a:lnTo>
                  <a:lnTo>
                    <a:pt x="3479761" y="2960992"/>
                  </a:lnTo>
                  <a:lnTo>
                    <a:pt x="3509632" y="2930753"/>
                  </a:lnTo>
                  <a:lnTo>
                    <a:pt x="3517852" y="2911225"/>
                  </a:lnTo>
                  <a:lnTo>
                    <a:pt x="3517914" y="2911046"/>
                  </a:lnTo>
                  <a:lnTo>
                    <a:pt x="3520032" y="2900641"/>
                  </a:lnTo>
                  <a:lnTo>
                    <a:pt x="3520063" y="2900485"/>
                  </a:lnTo>
                  <a:lnTo>
                    <a:pt x="3520795" y="2889719"/>
                  </a:lnTo>
                  <a:lnTo>
                    <a:pt x="3520771" y="82435"/>
                  </a:lnTo>
                  <a:lnTo>
                    <a:pt x="3509632" y="41389"/>
                  </a:lnTo>
                  <a:lnTo>
                    <a:pt x="3479393" y="11518"/>
                  </a:lnTo>
                  <a:lnTo>
                    <a:pt x="34383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x_work/row_0_ful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2084400"/>
              <a:ext cx="1416964" cy="14169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23159" y="2121484"/>
              <a:ext cx="1234440" cy="292735"/>
            </a:xfrm>
            <a:custGeom>
              <a:avLst/>
              <a:gdLst/>
              <a:ahLst/>
              <a:cxnLst/>
              <a:rect l="l" t="t" r="r" b="b"/>
              <a:pathLst>
                <a:path w="1234439" h="292735">
                  <a:moveTo>
                    <a:pt x="1087920" y="0"/>
                  </a:moveTo>
                  <a:lnTo>
                    <a:pt x="146519" y="0"/>
                  </a:lnTo>
                  <a:lnTo>
                    <a:pt x="126455" y="1264"/>
                  </a:lnTo>
                  <a:lnTo>
                    <a:pt x="126990" y="1264"/>
                  </a:lnTo>
                  <a:lnTo>
                    <a:pt x="108450" y="4857"/>
                  </a:lnTo>
                  <a:lnTo>
                    <a:pt x="73075" y="19431"/>
                  </a:lnTo>
                  <a:lnTo>
                    <a:pt x="42749" y="42748"/>
                  </a:lnTo>
                  <a:lnTo>
                    <a:pt x="19443" y="73075"/>
                  </a:lnTo>
                  <a:lnTo>
                    <a:pt x="4988" y="108445"/>
                  </a:lnTo>
                  <a:lnTo>
                    <a:pt x="0" y="146151"/>
                  </a:lnTo>
                  <a:lnTo>
                    <a:pt x="0" y="146519"/>
                  </a:lnTo>
                  <a:lnTo>
                    <a:pt x="1191" y="165217"/>
                  </a:lnTo>
                  <a:lnTo>
                    <a:pt x="1214" y="165580"/>
                  </a:lnTo>
                  <a:lnTo>
                    <a:pt x="4788" y="183910"/>
                  </a:lnTo>
                  <a:lnTo>
                    <a:pt x="4859" y="184272"/>
                  </a:lnTo>
                  <a:lnTo>
                    <a:pt x="19443" y="219595"/>
                  </a:lnTo>
                  <a:lnTo>
                    <a:pt x="42749" y="249923"/>
                  </a:lnTo>
                  <a:lnTo>
                    <a:pt x="73075" y="273240"/>
                  </a:lnTo>
                  <a:lnTo>
                    <a:pt x="108405" y="287680"/>
                  </a:lnTo>
                  <a:lnTo>
                    <a:pt x="146164" y="292671"/>
                  </a:lnTo>
                  <a:lnTo>
                    <a:pt x="1088275" y="292671"/>
                  </a:lnTo>
                  <a:lnTo>
                    <a:pt x="1144120" y="281436"/>
                  </a:lnTo>
                  <a:lnTo>
                    <a:pt x="1177336" y="262165"/>
                  </a:lnTo>
                  <a:lnTo>
                    <a:pt x="1204289" y="235212"/>
                  </a:lnTo>
                  <a:lnTo>
                    <a:pt x="1223349" y="201996"/>
                  </a:lnTo>
                  <a:lnTo>
                    <a:pt x="1233101" y="165580"/>
                  </a:lnTo>
                  <a:lnTo>
                    <a:pt x="1233173" y="165217"/>
                  </a:lnTo>
                  <a:lnTo>
                    <a:pt x="1234415" y="146519"/>
                  </a:lnTo>
                  <a:lnTo>
                    <a:pt x="1234415" y="146151"/>
                  </a:lnTo>
                  <a:lnTo>
                    <a:pt x="1233168" y="127246"/>
                  </a:lnTo>
                  <a:lnTo>
                    <a:pt x="1223199" y="90320"/>
                  </a:lnTo>
                  <a:lnTo>
                    <a:pt x="1203928" y="57103"/>
                  </a:lnTo>
                  <a:lnTo>
                    <a:pt x="1176973" y="30145"/>
                  </a:lnTo>
                  <a:lnTo>
                    <a:pt x="1143759" y="11079"/>
                  </a:lnTo>
                  <a:lnTo>
                    <a:pt x="1106985" y="1264"/>
                  </a:lnTo>
                  <a:lnTo>
                    <a:pt x="1087920" y="0"/>
                  </a:lnTo>
                  <a:close/>
                </a:path>
              </a:pathLst>
            </a:custGeom>
            <a:solidFill>
              <a:srgbClr val="1A0F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900057" y="2178621"/>
            <a:ext cx="281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00E4C6"/>
                </a:solidFill>
                <a:latin typeface="Calibri"/>
                <a:cs typeface="Calibri"/>
              </a:rPr>
              <a:t>BIRD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22804" y="2559964"/>
            <a:ext cx="91440" cy="1097280"/>
            <a:chOff x="2422804" y="2559964"/>
            <a:chExt cx="91440" cy="10972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804" y="2559964"/>
              <a:ext cx="91440" cy="914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2804" y="3062884"/>
              <a:ext cx="91440" cy="914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2804" y="3565804"/>
              <a:ext cx="91440" cy="9144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64980" y="2579306"/>
            <a:ext cx="113538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Image:</a:t>
            </a:r>
            <a:r>
              <a:rPr dirty="0" sz="850" spc="22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photo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of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20" i="1">
                <a:solidFill>
                  <a:srgbClr val="221A3C"/>
                </a:solidFill>
                <a:latin typeface="Calibri"/>
                <a:cs typeface="Calibri"/>
              </a:rPr>
              <a:t>bird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64980" y="3082226"/>
            <a:ext cx="113220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Audio:</a:t>
            </a:r>
            <a:r>
              <a:rPr dirty="0" sz="850" spc="2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bird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20" i="1">
                <a:solidFill>
                  <a:srgbClr val="221A3C"/>
                </a:solidFill>
                <a:latin typeface="Calibri"/>
                <a:cs typeface="Calibri"/>
              </a:rPr>
              <a:t>wild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4980" y="3585146"/>
            <a:ext cx="112712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Video:</a:t>
            </a:r>
            <a:r>
              <a:rPr dirty="0" sz="850" spc="2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bird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in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the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20" i="1">
                <a:solidFill>
                  <a:srgbClr val="221A3C"/>
                </a:solidFill>
                <a:latin typeface="Calibri"/>
                <a:cs typeface="Calibri"/>
              </a:rPr>
              <a:t>wild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88764" y="1919884"/>
            <a:ext cx="3521075" cy="2972435"/>
            <a:chOff x="4388764" y="1919884"/>
            <a:chExt cx="3521075" cy="2972435"/>
          </a:xfrm>
        </p:grpSpPr>
        <p:sp>
          <p:nvSpPr>
            <p:cNvPr id="18" name="object 18"/>
            <p:cNvSpPr/>
            <p:nvPr/>
          </p:nvSpPr>
          <p:spPr>
            <a:xfrm>
              <a:off x="4388764" y="1919884"/>
              <a:ext cx="3521075" cy="2972435"/>
            </a:xfrm>
            <a:custGeom>
              <a:avLst/>
              <a:gdLst/>
              <a:ahLst/>
              <a:cxnLst/>
              <a:rect l="l" t="t" r="r" b="b"/>
              <a:pathLst>
                <a:path w="3521075" h="297243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2889719"/>
                  </a:lnTo>
                  <a:lnTo>
                    <a:pt x="719" y="2900485"/>
                  </a:lnTo>
                  <a:lnTo>
                    <a:pt x="729" y="2900641"/>
                  </a:lnTo>
                  <a:lnTo>
                    <a:pt x="2838" y="2911046"/>
                  </a:lnTo>
                  <a:lnTo>
                    <a:pt x="2874" y="2911225"/>
                  </a:lnTo>
                  <a:lnTo>
                    <a:pt x="6299" y="2921202"/>
                  </a:lnTo>
                  <a:lnTo>
                    <a:pt x="6370" y="2921407"/>
                  </a:lnTo>
                  <a:lnTo>
                    <a:pt x="11150" y="2931121"/>
                  </a:lnTo>
                  <a:lnTo>
                    <a:pt x="17036" y="2939780"/>
                  </a:lnTo>
                  <a:lnTo>
                    <a:pt x="17141" y="2939936"/>
                  </a:lnTo>
                  <a:lnTo>
                    <a:pt x="24245" y="2947943"/>
                  </a:lnTo>
                  <a:lnTo>
                    <a:pt x="61102" y="2969274"/>
                  </a:lnTo>
                  <a:lnTo>
                    <a:pt x="82435" y="2972155"/>
                  </a:lnTo>
                  <a:lnTo>
                    <a:pt x="3438359" y="2972155"/>
                  </a:lnTo>
                  <a:lnTo>
                    <a:pt x="3479761" y="2960992"/>
                  </a:lnTo>
                  <a:lnTo>
                    <a:pt x="3509632" y="2930753"/>
                  </a:lnTo>
                  <a:lnTo>
                    <a:pt x="3514311" y="2921407"/>
                  </a:lnTo>
                  <a:lnTo>
                    <a:pt x="3514414" y="2921202"/>
                  </a:lnTo>
                  <a:lnTo>
                    <a:pt x="3520795" y="2889719"/>
                  </a:lnTo>
                  <a:lnTo>
                    <a:pt x="3520771" y="82435"/>
                  </a:lnTo>
                  <a:lnTo>
                    <a:pt x="3509632" y="41389"/>
                  </a:lnTo>
                  <a:lnTo>
                    <a:pt x="3479393" y="11518"/>
                  </a:lnTo>
                  <a:lnTo>
                    <a:pt x="34383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/home/claude/pptx_work/row_1_full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1999" y="2084400"/>
              <a:ext cx="1416964" cy="14169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1844" y="2121484"/>
              <a:ext cx="1235075" cy="292735"/>
            </a:xfrm>
            <a:custGeom>
              <a:avLst/>
              <a:gdLst/>
              <a:ahLst/>
              <a:cxnLst/>
              <a:rect l="l" t="t" r="r" b="b"/>
              <a:pathLst>
                <a:path w="1235075" h="292735">
                  <a:moveTo>
                    <a:pt x="1088275" y="0"/>
                  </a:moveTo>
                  <a:lnTo>
                    <a:pt x="146519" y="0"/>
                  </a:lnTo>
                  <a:lnTo>
                    <a:pt x="126669" y="1264"/>
                  </a:lnTo>
                  <a:lnTo>
                    <a:pt x="127197" y="1264"/>
                  </a:lnTo>
                  <a:lnTo>
                    <a:pt x="108761" y="4857"/>
                  </a:lnTo>
                  <a:lnTo>
                    <a:pt x="73431" y="19431"/>
                  </a:lnTo>
                  <a:lnTo>
                    <a:pt x="43105" y="42748"/>
                  </a:lnTo>
                  <a:lnTo>
                    <a:pt x="19799" y="73075"/>
                  </a:lnTo>
                  <a:lnTo>
                    <a:pt x="5343" y="108445"/>
                  </a:lnTo>
                  <a:lnTo>
                    <a:pt x="355" y="146151"/>
                  </a:lnTo>
                  <a:lnTo>
                    <a:pt x="0" y="146519"/>
                  </a:lnTo>
                  <a:lnTo>
                    <a:pt x="1246" y="165217"/>
                  </a:lnTo>
                  <a:lnTo>
                    <a:pt x="1270" y="165580"/>
                  </a:lnTo>
                  <a:lnTo>
                    <a:pt x="4964" y="183910"/>
                  </a:lnTo>
                  <a:lnTo>
                    <a:pt x="19799" y="219595"/>
                  </a:lnTo>
                  <a:lnTo>
                    <a:pt x="43105" y="249923"/>
                  </a:lnTo>
                  <a:lnTo>
                    <a:pt x="73431" y="273240"/>
                  </a:lnTo>
                  <a:lnTo>
                    <a:pt x="108761" y="287680"/>
                  </a:lnTo>
                  <a:lnTo>
                    <a:pt x="146519" y="292671"/>
                  </a:lnTo>
                  <a:lnTo>
                    <a:pt x="1088631" y="292671"/>
                  </a:lnTo>
                  <a:lnTo>
                    <a:pt x="1144475" y="281436"/>
                  </a:lnTo>
                  <a:lnTo>
                    <a:pt x="1177691" y="262165"/>
                  </a:lnTo>
                  <a:lnTo>
                    <a:pt x="1204644" y="235212"/>
                  </a:lnTo>
                  <a:lnTo>
                    <a:pt x="1223704" y="201996"/>
                  </a:lnTo>
                  <a:lnTo>
                    <a:pt x="1234771" y="146519"/>
                  </a:lnTo>
                  <a:lnTo>
                    <a:pt x="1234440" y="146519"/>
                  </a:lnTo>
                  <a:lnTo>
                    <a:pt x="1233223" y="127246"/>
                  </a:lnTo>
                  <a:lnTo>
                    <a:pt x="1223499" y="90320"/>
                  </a:lnTo>
                  <a:lnTo>
                    <a:pt x="1204283" y="57103"/>
                  </a:lnTo>
                  <a:lnTo>
                    <a:pt x="1177329" y="30145"/>
                  </a:lnTo>
                  <a:lnTo>
                    <a:pt x="1144114" y="11079"/>
                  </a:lnTo>
                  <a:lnTo>
                    <a:pt x="1107341" y="1264"/>
                  </a:lnTo>
                  <a:lnTo>
                    <a:pt x="1088275" y="0"/>
                  </a:lnTo>
                  <a:close/>
                </a:path>
                <a:path w="1235075" h="292735">
                  <a:moveTo>
                    <a:pt x="1234795" y="146151"/>
                  </a:moveTo>
                  <a:lnTo>
                    <a:pt x="1234440" y="146519"/>
                  </a:lnTo>
                  <a:lnTo>
                    <a:pt x="1234771" y="146519"/>
                  </a:lnTo>
                  <a:lnTo>
                    <a:pt x="1234795" y="146151"/>
                  </a:lnTo>
                  <a:close/>
                </a:path>
              </a:pathLst>
            </a:custGeom>
            <a:solidFill>
              <a:srgbClr val="1A0F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601942" y="2178621"/>
            <a:ext cx="3740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E4C6"/>
                </a:solidFill>
                <a:latin typeface="Calibri"/>
                <a:cs typeface="Calibri"/>
              </a:rPr>
              <a:t>TRUCK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1844" y="2559964"/>
            <a:ext cx="91440" cy="1097280"/>
            <a:chOff x="6171844" y="2559964"/>
            <a:chExt cx="91440" cy="109728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1844" y="2559964"/>
              <a:ext cx="91440" cy="914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1844" y="3062884"/>
              <a:ext cx="91440" cy="914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1844" y="3565804"/>
              <a:ext cx="91440" cy="9144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414020" y="2515590"/>
            <a:ext cx="875030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Image:</a:t>
            </a:r>
            <a:r>
              <a:rPr dirty="0" sz="850" spc="22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small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25" i="1">
                <a:solidFill>
                  <a:srgbClr val="221A3C"/>
                </a:solidFill>
                <a:latin typeface="Calibri"/>
                <a:cs typeface="Calibri"/>
              </a:rPr>
              <a:t>cat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photograph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14020" y="3018510"/>
            <a:ext cx="1116330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Audio:</a:t>
            </a:r>
            <a:r>
              <a:rPr dirty="0" sz="850" spc="229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truck</a:t>
            </a:r>
            <a:r>
              <a:rPr dirty="0" sz="850" spc="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captured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camera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4020" y="3521430"/>
            <a:ext cx="1111885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Video:</a:t>
            </a:r>
            <a:r>
              <a:rPr dirty="0" sz="850" spc="229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truck</a:t>
            </a:r>
            <a:r>
              <a:rPr dirty="0" sz="850" spc="3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captured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camera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37804" y="1919884"/>
            <a:ext cx="3521075" cy="2972435"/>
            <a:chOff x="8137804" y="1919884"/>
            <a:chExt cx="3521075" cy="2972435"/>
          </a:xfrm>
        </p:grpSpPr>
        <p:sp>
          <p:nvSpPr>
            <p:cNvPr id="30" name="object 30"/>
            <p:cNvSpPr/>
            <p:nvPr/>
          </p:nvSpPr>
          <p:spPr>
            <a:xfrm>
              <a:off x="8137804" y="1919884"/>
              <a:ext cx="3521075" cy="2972435"/>
            </a:xfrm>
            <a:custGeom>
              <a:avLst/>
              <a:gdLst/>
              <a:ahLst/>
              <a:cxnLst/>
              <a:rect l="l" t="t" r="r" b="b"/>
              <a:pathLst>
                <a:path w="3521075" h="297243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2889719"/>
                  </a:lnTo>
                  <a:lnTo>
                    <a:pt x="719" y="2900485"/>
                  </a:lnTo>
                  <a:lnTo>
                    <a:pt x="729" y="2900641"/>
                  </a:lnTo>
                  <a:lnTo>
                    <a:pt x="2838" y="2911046"/>
                  </a:lnTo>
                  <a:lnTo>
                    <a:pt x="2874" y="2911225"/>
                  </a:lnTo>
                  <a:lnTo>
                    <a:pt x="6299" y="2921202"/>
                  </a:lnTo>
                  <a:lnTo>
                    <a:pt x="6370" y="2921407"/>
                  </a:lnTo>
                  <a:lnTo>
                    <a:pt x="11150" y="2931121"/>
                  </a:lnTo>
                  <a:lnTo>
                    <a:pt x="17036" y="2939780"/>
                  </a:lnTo>
                  <a:lnTo>
                    <a:pt x="17141" y="2939936"/>
                  </a:lnTo>
                  <a:lnTo>
                    <a:pt x="24245" y="2947943"/>
                  </a:lnTo>
                  <a:lnTo>
                    <a:pt x="61102" y="2969274"/>
                  </a:lnTo>
                  <a:lnTo>
                    <a:pt x="82435" y="2972155"/>
                  </a:lnTo>
                  <a:lnTo>
                    <a:pt x="3438359" y="2972155"/>
                  </a:lnTo>
                  <a:lnTo>
                    <a:pt x="3479761" y="2960992"/>
                  </a:lnTo>
                  <a:lnTo>
                    <a:pt x="3509632" y="2930753"/>
                  </a:lnTo>
                  <a:lnTo>
                    <a:pt x="3514311" y="2921407"/>
                  </a:lnTo>
                  <a:lnTo>
                    <a:pt x="3514414" y="2921202"/>
                  </a:lnTo>
                  <a:lnTo>
                    <a:pt x="3520795" y="2889719"/>
                  </a:lnTo>
                  <a:lnTo>
                    <a:pt x="3520771" y="82435"/>
                  </a:lnTo>
                  <a:lnTo>
                    <a:pt x="3509632" y="41389"/>
                  </a:lnTo>
                  <a:lnTo>
                    <a:pt x="3479393" y="11518"/>
                  </a:lnTo>
                  <a:lnTo>
                    <a:pt x="343835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4F2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/home/claude/pptx_work/row_2_full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1039" y="2084400"/>
              <a:ext cx="1416964" cy="141696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921239" y="2121484"/>
              <a:ext cx="1234440" cy="292735"/>
            </a:xfrm>
            <a:custGeom>
              <a:avLst/>
              <a:gdLst/>
              <a:ahLst/>
              <a:cxnLst/>
              <a:rect l="l" t="t" r="r" b="b"/>
              <a:pathLst>
                <a:path w="1234440" h="292735">
                  <a:moveTo>
                    <a:pt x="1087920" y="0"/>
                  </a:moveTo>
                  <a:lnTo>
                    <a:pt x="146519" y="0"/>
                  </a:lnTo>
                  <a:lnTo>
                    <a:pt x="126455" y="1264"/>
                  </a:lnTo>
                  <a:lnTo>
                    <a:pt x="126990" y="1264"/>
                  </a:lnTo>
                  <a:lnTo>
                    <a:pt x="108450" y="4857"/>
                  </a:lnTo>
                  <a:lnTo>
                    <a:pt x="73075" y="19431"/>
                  </a:lnTo>
                  <a:lnTo>
                    <a:pt x="42749" y="42748"/>
                  </a:lnTo>
                  <a:lnTo>
                    <a:pt x="19443" y="73075"/>
                  </a:lnTo>
                  <a:lnTo>
                    <a:pt x="4988" y="108445"/>
                  </a:lnTo>
                  <a:lnTo>
                    <a:pt x="0" y="146151"/>
                  </a:lnTo>
                  <a:lnTo>
                    <a:pt x="0" y="146519"/>
                  </a:lnTo>
                  <a:lnTo>
                    <a:pt x="10813" y="201996"/>
                  </a:lnTo>
                  <a:lnTo>
                    <a:pt x="10935" y="202357"/>
                  </a:lnTo>
                  <a:lnTo>
                    <a:pt x="30150" y="235567"/>
                  </a:lnTo>
                  <a:lnTo>
                    <a:pt x="57103" y="262526"/>
                  </a:lnTo>
                  <a:lnTo>
                    <a:pt x="90319" y="281591"/>
                  </a:lnTo>
                  <a:lnTo>
                    <a:pt x="146164" y="292671"/>
                  </a:lnTo>
                  <a:lnTo>
                    <a:pt x="1088275" y="292671"/>
                  </a:lnTo>
                  <a:lnTo>
                    <a:pt x="1144120" y="281436"/>
                  </a:lnTo>
                  <a:lnTo>
                    <a:pt x="1177336" y="262165"/>
                  </a:lnTo>
                  <a:lnTo>
                    <a:pt x="1204289" y="235212"/>
                  </a:lnTo>
                  <a:lnTo>
                    <a:pt x="1223349" y="201996"/>
                  </a:lnTo>
                  <a:lnTo>
                    <a:pt x="1234415" y="146519"/>
                  </a:lnTo>
                  <a:lnTo>
                    <a:pt x="1234415" y="146151"/>
                  </a:lnTo>
                  <a:lnTo>
                    <a:pt x="1233168" y="127246"/>
                  </a:lnTo>
                  <a:lnTo>
                    <a:pt x="1223199" y="90320"/>
                  </a:lnTo>
                  <a:lnTo>
                    <a:pt x="1203928" y="57103"/>
                  </a:lnTo>
                  <a:lnTo>
                    <a:pt x="1176973" y="30145"/>
                  </a:lnTo>
                  <a:lnTo>
                    <a:pt x="1143759" y="11079"/>
                  </a:lnTo>
                  <a:lnTo>
                    <a:pt x="1106985" y="1264"/>
                  </a:lnTo>
                  <a:lnTo>
                    <a:pt x="1087920" y="0"/>
                  </a:lnTo>
                  <a:close/>
                </a:path>
              </a:pathLst>
            </a:custGeom>
            <a:solidFill>
              <a:srgbClr val="1A0F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347020" y="2178621"/>
            <a:ext cx="3822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E4C6"/>
                </a:solidFill>
                <a:latin typeface="Calibri"/>
                <a:cs typeface="Calibri"/>
              </a:rPr>
              <a:t>HORSE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920884" y="2559964"/>
            <a:ext cx="91440" cy="1097280"/>
            <a:chOff x="9920884" y="2559964"/>
            <a:chExt cx="91440" cy="109728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20884" y="2559964"/>
              <a:ext cx="91439" cy="914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20884" y="3062884"/>
              <a:ext cx="91439" cy="914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20884" y="3565804"/>
              <a:ext cx="91439" cy="9144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0163061" y="2515590"/>
            <a:ext cx="1145540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Image:</a:t>
            </a:r>
            <a:r>
              <a:rPr dirty="0" sz="850" spc="24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horse</a:t>
            </a:r>
            <a:r>
              <a:rPr dirty="0" sz="850" spc="2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captured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camera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163061" y="3018510"/>
            <a:ext cx="1136015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Audio:</a:t>
            </a:r>
            <a:r>
              <a:rPr dirty="0" sz="850" spc="235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horse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captured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camera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63061" y="3521430"/>
            <a:ext cx="1131570" cy="2851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170"/>
              </a:spcBef>
            </a:pPr>
            <a:r>
              <a:rPr dirty="0" sz="850" b="1">
                <a:solidFill>
                  <a:srgbClr val="221A3C"/>
                </a:solidFill>
                <a:latin typeface="Calibri"/>
                <a:cs typeface="Calibri"/>
              </a:rPr>
              <a:t>Video:</a:t>
            </a:r>
            <a:r>
              <a:rPr dirty="0" sz="850" spc="240" b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a</a:t>
            </a:r>
            <a:r>
              <a:rPr dirty="0" sz="850" spc="3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horse</a:t>
            </a:r>
            <a:r>
              <a:rPr dirty="0" sz="850" spc="2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captured</a:t>
            </a:r>
            <a:r>
              <a:rPr dirty="0" sz="850" spc="500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221A3C"/>
                </a:solidFill>
                <a:latin typeface="Calibri"/>
                <a:cs typeface="Calibri"/>
              </a:rPr>
              <a:t>on</a:t>
            </a:r>
            <a:r>
              <a:rPr dirty="0" sz="850" spc="15" i="1">
                <a:solidFill>
                  <a:srgbClr val="221A3C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221A3C"/>
                </a:solidFill>
                <a:latin typeface="Calibri"/>
                <a:cs typeface="Calibri"/>
              </a:rPr>
              <a:t>camera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7016" y="5043868"/>
            <a:ext cx="10619740" cy="3505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5"/>
              </a:spcBef>
            </a:pP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Center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example: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image-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only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path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misreads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“cat,”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yet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audio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and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video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sharing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same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latent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space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—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both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recover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correct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label,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showing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the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extra</a:t>
            </a:r>
            <a:r>
              <a:rPr dirty="0" sz="1050" spc="-1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modalities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add</a:t>
            </a:r>
            <a:r>
              <a:rPr dirty="0" sz="1050" spc="-25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real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 robustness,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6D6483"/>
                </a:solidFill>
                <a:latin typeface="Calibri"/>
                <a:cs typeface="Calibri"/>
              </a:rPr>
              <a:t>not</a:t>
            </a:r>
            <a:r>
              <a:rPr dirty="0" sz="1050" spc="-20" i="1">
                <a:solidFill>
                  <a:srgbClr val="6D6483"/>
                </a:solidFill>
                <a:latin typeface="Calibri"/>
                <a:cs typeface="Calibri"/>
              </a:rPr>
              <a:t> just </a:t>
            </a:r>
            <a:r>
              <a:rPr dirty="0" sz="1050" spc="-10" i="1">
                <a:solidFill>
                  <a:srgbClr val="6D6483"/>
                </a:solidFill>
                <a:latin typeface="Calibri"/>
                <a:cs typeface="Calibri"/>
              </a:rPr>
              <a:t>redundancy.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39724" y="5486044"/>
            <a:ext cx="2606675" cy="777875"/>
          </a:xfrm>
          <a:custGeom>
            <a:avLst/>
            <a:gdLst/>
            <a:ahLst/>
            <a:cxnLst/>
            <a:rect l="l" t="t" r="r" b="b"/>
            <a:pathLst>
              <a:path w="2606675" h="777875">
                <a:moveTo>
                  <a:pt x="64439" y="0"/>
                </a:moveTo>
                <a:lnTo>
                  <a:pt x="25397" y="13357"/>
                </a:lnTo>
                <a:lnTo>
                  <a:pt x="2516" y="47517"/>
                </a:lnTo>
                <a:lnTo>
                  <a:pt x="0" y="713511"/>
                </a:lnTo>
                <a:lnTo>
                  <a:pt x="538" y="721861"/>
                </a:lnTo>
                <a:lnTo>
                  <a:pt x="18735" y="758742"/>
                </a:lnTo>
                <a:lnTo>
                  <a:pt x="18851" y="758875"/>
                </a:lnTo>
                <a:lnTo>
                  <a:pt x="55728" y="777055"/>
                </a:lnTo>
                <a:lnTo>
                  <a:pt x="64071" y="777595"/>
                </a:lnTo>
                <a:lnTo>
                  <a:pt x="2542311" y="777595"/>
                </a:lnTo>
                <a:lnTo>
                  <a:pt x="2581353" y="764237"/>
                </a:lnTo>
                <a:lnTo>
                  <a:pt x="2604235" y="730075"/>
                </a:lnTo>
                <a:lnTo>
                  <a:pt x="2606395" y="713511"/>
                </a:lnTo>
                <a:lnTo>
                  <a:pt x="2606371" y="64071"/>
                </a:lnTo>
                <a:lnTo>
                  <a:pt x="2593037" y="25397"/>
                </a:lnTo>
                <a:lnTo>
                  <a:pt x="2558875" y="2516"/>
                </a:lnTo>
                <a:lnTo>
                  <a:pt x="2542311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629257" y="5575579"/>
            <a:ext cx="626745" cy="643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solidFill>
                  <a:srgbClr val="00E4C6"/>
                </a:solidFill>
                <a:latin typeface="Times New Roman"/>
                <a:cs typeface="Times New Roman"/>
              </a:rPr>
              <a:t>100%</a:t>
            </a:r>
            <a:endParaRPr sz="1900">
              <a:latin typeface="Times New Roman"/>
              <a:cs typeface="Times New Roman"/>
            </a:endParaRPr>
          </a:p>
          <a:p>
            <a:pPr algn="ctr" marL="38100" marR="28575">
              <a:lnSpc>
                <a:spcPts val="950"/>
              </a:lnSpc>
              <a:spcBef>
                <a:spcPts val="700"/>
              </a:spcBef>
            </a:pPr>
            <a:r>
              <a:rPr dirty="0" sz="850">
                <a:solidFill>
                  <a:srgbClr val="D8D3EE"/>
                </a:solidFill>
                <a:latin typeface="Calibri"/>
                <a:cs typeface="Calibri"/>
              </a:rPr>
              <a:t>Audio</a:t>
            </a:r>
            <a:r>
              <a:rPr dirty="0" sz="850" spc="-2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D8D3EE"/>
                </a:solidFill>
                <a:latin typeface="Calibri"/>
                <a:cs typeface="Calibri"/>
              </a:rPr>
              <a:t>&amp;</a:t>
            </a:r>
            <a:r>
              <a:rPr dirty="0" sz="850" spc="-20">
                <a:solidFill>
                  <a:srgbClr val="D8D3EE"/>
                </a:solidFill>
                <a:latin typeface="Calibri"/>
                <a:cs typeface="Calibri"/>
              </a:rPr>
              <a:t> text</a:t>
            </a:r>
            <a:r>
              <a:rPr dirty="0" sz="850" spc="50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accuracy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74364" y="5486044"/>
            <a:ext cx="2606675" cy="777875"/>
          </a:xfrm>
          <a:custGeom>
            <a:avLst/>
            <a:gdLst/>
            <a:ahLst/>
            <a:cxnLst/>
            <a:rect l="l" t="t" r="r" b="b"/>
            <a:pathLst>
              <a:path w="2606675" h="777875">
                <a:moveTo>
                  <a:pt x="64439" y="0"/>
                </a:moveTo>
                <a:lnTo>
                  <a:pt x="25397" y="13357"/>
                </a:lnTo>
                <a:lnTo>
                  <a:pt x="2516" y="47517"/>
                </a:lnTo>
                <a:lnTo>
                  <a:pt x="0" y="713511"/>
                </a:lnTo>
                <a:lnTo>
                  <a:pt x="538" y="721861"/>
                </a:lnTo>
                <a:lnTo>
                  <a:pt x="18735" y="758742"/>
                </a:lnTo>
                <a:lnTo>
                  <a:pt x="55728" y="777055"/>
                </a:lnTo>
                <a:lnTo>
                  <a:pt x="64071" y="777595"/>
                </a:lnTo>
                <a:lnTo>
                  <a:pt x="2542311" y="777595"/>
                </a:lnTo>
                <a:lnTo>
                  <a:pt x="2581353" y="764237"/>
                </a:lnTo>
                <a:lnTo>
                  <a:pt x="2604235" y="730075"/>
                </a:lnTo>
                <a:lnTo>
                  <a:pt x="2606395" y="713511"/>
                </a:lnTo>
                <a:lnTo>
                  <a:pt x="2606371" y="64071"/>
                </a:lnTo>
                <a:lnTo>
                  <a:pt x="2593037" y="25397"/>
                </a:lnTo>
                <a:lnTo>
                  <a:pt x="2558875" y="2516"/>
                </a:lnTo>
                <a:lnTo>
                  <a:pt x="64439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430420" y="5575579"/>
            <a:ext cx="695325" cy="643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00E4C6"/>
                </a:solidFill>
                <a:latin typeface="Times New Roman"/>
                <a:cs typeface="Times New Roman"/>
              </a:rPr>
              <a:t>93.9%</a:t>
            </a:r>
            <a:endParaRPr sz="1900">
              <a:latin typeface="Times New Roman"/>
              <a:cs typeface="Times New Roman"/>
            </a:endParaRPr>
          </a:p>
          <a:p>
            <a:pPr algn="ctr" marL="156210" marR="149225">
              <a:lnSpc>
                <a:spcPts val="950"/>
              </a:lnSpc>
              <a:spcBef>
                <a:spcPts val="700"/>
              </a:spcBef>
            </a:pP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Video</a:t>
            </a:r>
            <a:r>
              <a:rPr dirty="0" sz="850" spc="50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accuracy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309004" y="5486044"/>
            <a:ext cx="2606675" cy="777875"/>
          </a:xfrm>
          <a:custGeom>
            <a:avLst/>
            <a:gdLst/>
            <a:ahLst/>
            <a:cxnLst/>
            <a:rect l="l" t="t" r="r" b="b"/>
            <a:pathLst>
              <a:path w="2606675" h="777875">
                <a:moveTo>
                  <a:pt x="64439" y="0"/>
                </a:moveTo>
                <a:lnTo>
                  <a:pt x="25397" y="13357"/>
                </a:lnTo>
                <a:lnTo>
                  <a:pt x="2516" y="47517"/>
                </a:lnTo>
                <a:lnTo>
                  <a:pt x="0" y="713511"/>
                </a:lnTo>
                <a:lnTo>
                  <a:pt x="538" y="721861"/>
                </a:lnTo>
                <a:lnTo>
                  <a:pt x="18735" y="758742"/>
                </a:lnTo>
                <a:lnTo>
                  <a:pt x="55728" y="777055"/>
                </a:lnTo>
                <a:lnTo>
                  <a:pt x="64071" y="777595"/>
                </a:lnTo>
                <a:lnTo>
                  <a:pt x="2542311" y="777595"/>
                </a:lnTo>
                <a:lnTo>
                  <a:pt x="2581353" y="764237"/>
                </a:lnTo>
                <a:lnTo>
                  <a:pt x="2604235" y="730075"/>
                </a:lnTo>
                <a:lnTo>
                  <a:pt x="2606395" y="713511"/>
                </a:lnTo>
                <a:lnTo>
                  <a:pt x="2606371" y="64071"/>
                </a:lnTo>
                <a:lnTo>
                  <a:pt x="2593037" y="25397"/>
                </a:lnTo>
                <a:lnTo>
                  <a:pt x="2558875" y="2516"/>
                </a:lnTo>
                <a:lnTo>
                  <a:pt x="64439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278738" y="5575579"/>
            <a:ext cx="668020" cy="643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00E4C6"/>
                </a:solidFill>
                <a:latin typeface="Times New Roman"/>
                <a:cs typeface="Times New Roman"/>
              </a:rPr>
              <a:t>3.49M</a:t>
            </a:r>
            <a:endParaRPr sz="1900">
              <a:latin typeface="Times New Roman"/>
              <a:cs typeface="Times New Roman"/>
            </a:endParaRPr>
          </a:p>
          <a:p>
            <a:pPr algn="ctr" marL="81915" marR="74930" indent="-2540">
              <a:lnSpc>
                <a:spcPts val="950"/>
              </a:lnSpc>
              <a:spcBef>
                <a:spcPts val="700"/>
              </a:spcBef>
            </a:pP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Trainable</a:t>
            </a:r>
            <a:r>
              <a:rPr dirty="0" sz="850" spc="50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parameters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143644" y="5486044"/>
            <a:ext cx="2606675" cy="777875"/>
          </a:xfrm>
          <a:custGeom>
            <a:avLst/>
            <a:gdLst/>
            <a:ahLst/>
            <a:cxnLst/>
            <a:rect l="l" t="t" r="r" b="b"/>
            <a:pathLst>
              <a:path w="2606675" h="777875">
                <a:moveTo>
                  <a:pt x="64439" y="0"/>
                </a:moveTo>
                <a:lnTo>
                  <a:pt x="25397" y="13357"/>
                </a:lnTo>
                <a:lnTo>
                  <a:pt x="2516" y="47517"/>
                </a:lnTo>
                <a:lnTo>
                  <a:pt x="0" y="713511"/>
                </a:lnTo>
                <a:lnTo>
                  <a:pt x="538" y="721861"/>
                </a:lnTo>
                <a:lnTo>
                  <a:pt x="18735" y="758742"/>
                </a:lnTo>
                <a:lnTo>
                  <a:pt x="18851" y="758875"/>
                </a:lnTo>
                <a:lnTo>
                  <a:pt x="55728" y="777055"/>
                </a:lnTo>
                <a:lnTo>
                  <a:pt x="64071" y="777595"/>
                </a:lnTo>
                <a:lnTo>
                  <a:pt x="2542311" y="777595"/>
                </a:lnTo>
                <a:lnTo>
                  <a:pt x="2581353" y="764237"/>
                </a:lnTo>
                <a:lnTo>
                  <a:pt x="2604235" y="730075"/>
                </a:lnTo>
                <a:lnTo>
                  <a:pt x="2606395" y="713511"/>
                </a:lnTo>
                <a:lnTo>
                  <a:pt x="2606371" y="64071"/>
                </a:lnTo>
                <a:lnTo>
                  <a:pt x="2593037" y="25397"/>
                </a:lnTo>
                <a:lnTo>
                  <a:pt x="2558875" y="2516"/>
                </a:lnTo>
                <a:lnTo>
                  <a:pt x="2542311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1A0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0062984" y="5575579"/>
            <a:ext cx="766445" cy="643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spc="65" b="1">
                <a:solidFill>
                  <a:srgbClr val="00E4C6"/>
                </a:solidFill>
                <a:latin typeface="Times New Roman"/>
                <a:cs typeface="Times New Roman"/>
              </a:rPr>
              <a:t>6</a:t>
            </a:r>
            <a:r>
              <a:rPr dirty="0" sz="1900" spc="-70" b="1">
                <a:solidFill>
                  <a:srgbClr val="00E4C6"/>
                </a:solidFill>
                <a:latin typeface="Times New Roman"/>
                <a:cs typeface="Times New Roman"/>
              </a:rPr>
              <a:t> </a:t>
            </a:r>
            <a:r>
              <a:rPr dirty="0" sz="1900" spc="60" b="1">
                <a:solidFill>
                  <a:srgbClr val="00E4C6"/>
                </a:solidFill>
                <a:latin typeface="Times New Roman"/>
                <a:cs typeface="Times New Roman"/>
              </a:rPr>
              <a:t>steps</a:t>
            </a:r>
            <a:endParaRPr sz="1900">
              <a:latin typeface="Times New Roman"/>
              <a:cs typeface="Times New Roman"/>
            </a:endParaRPr>
          </a:p>
          <a:p>
            <a:pPr algn="ctr" marL="27305" marR="19685">
              <a:lnSpc>
                <a:spcPts val="950"/>
              </a:lnSpc>
              <a:spcBef>
                <a:spcPts val="700"/>
              </a:spcBef>
            </a:pP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“Dream”</a:t>
            </a:r>
            <a:r>
              <a:rPr dirty="0" sz="850" spc="1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frames</a:t>
            </a:r>
            <a:r>
              <a:rPr dirty="0" sz="850" spc="500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D8D3EE"/>
                </a:solidFill>
                <a:latin typeface="Calibri"/>
                <a:cs typeface="Calibri"/>
              </a:rPr>
              <a:t>per</a:t>
            </a:r>
            <a:r>
              <a:rPr dirty="0" sz="850" spc="-25">
                <a:solidFill>
                  <a:srgbClr val="D8D3E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D8D3EE"/>
                </a:solidFill>
                <a:latin typeface="Calibri"/>
                <a:cs typeface="Calibri"/>
              </a:rPr>
              <a:t>rollout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686222" y="6431988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6D6483"/>
                </a:solidFill>
                <a:latin typeface="Calibri"/>
                <a:cs typeface="Calibri"/>
              </a:rPr>
              <a:t>07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2026-08-28T16:40:58Z</dcterms:created>
  <dcterms:modified xsi:type="dcterms:W3CDTF">2026-08-28T16:40:58Z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2026-08-27T00:00:00Z</vt:filetime>
  </property>
</Properties>
</file>